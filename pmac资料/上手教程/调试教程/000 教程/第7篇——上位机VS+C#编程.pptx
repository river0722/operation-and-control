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96" r:id="rId5"/>
    <p:sldId id="297" r:id="rId6"/>
    <p:sldId id="298" r:id="rId7"/>
    <p:sldId id="299" r:id="rId8"/>
    <p:sldId id="301" r:id="rId9"/>
    <p:sldId id="303" r:id="rId10"/>
    <p:sldId id="302" r:id="rId11"/>
    <p:sldId id="300" r:id="rId12"/>
    <p:sldId id="304" r:id="rId13"/>
    <p:sldId id="305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EB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1358" y="-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1365BF-9101-4349-AFAE-A0D0DEF6FB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7C1453-3220-4070-93B1-15FE599C527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3453354" y="2860256"/>
            <a:ext cx="6033722" cy="1231410"/>
            <a:chOff x="3453354" y="2860256"/>
            <a:chExt cx="6033722" cy="1231410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3453355" y="3469118"/>
              <a:ext cx="561828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/>
            <p:cNvSpPr txBox="1"/>
            <p:nvPr/>
          </p:nvSpPr>
          <p:spPr>
            <a:xfrm>
              <a:off x="3453354" y="2860256"/>
              <a:ext cx="60337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C#</a:t>
              </a:r>
              <a:r>
                <a:rPr lang="zh-CN" altLang="en-US" sz="2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编程</a:t>
              </a:r>
              <a:endParaRPr lang="zh-CN" altLang="en-US" sz="24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3453354" y="3814667"/>
              <a:ext cx="27959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2019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23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日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-1" y="-1"/>
            <a:ext cx="3456022" cy="6857993"/>
            <a:chOff x="0" y="0"/>
            <a:chExt cx="3202389" cy="6858000"/>
          </a:xfrm>
        </p:grpSpPr>
        <p:sp>
          <p:nvSpPr>
            <p:cNvPr id="4" name="矩形 3"/>
            <p:cNvSpPr/>
            <p:nvPr/>
          </p:nvSpPr>
          <p:spPr>
            <a:xfrm>
              <a:off x="0" y="0"/>
              <a:ext cx="2892669" cy="6858000"/>
            </a:xfrm>
            <a:prstGeom prst="rect">
              <a:avLst/>
            </a:prstGeom>
            <a:solidFill>
              <a:srgbClr val="005E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3000" b="1" dirty="0"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724239" y="4930779"/>
              <a:ext cx="2048609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  <a:endParaRPr lang="zh-CN" altLang="en-US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491428" y="2977484"/>
              <a:ext cx="2710961" cy="707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  <a:endParaRPr lang="zh-CN" altLang="en-US" sz="40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/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/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  <a:endParaRPr lang="zh-CN" altLang="en-US" sz="2100" b="1" dirty="0">
                <a:solidFill>
                  <a:srgbClr val="005EB8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  <a:endParaRPr lang="zh-CN" altLang="en-US" sz="1200" b="1" dirty="0">
                <a:solidFill>
                  <a:srgbClr val="005EB8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40034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新建窗体应用项目</a:t>
            </a:r>
            <a:endParaRPr lang="zh-CN" altLang="en-US" sz="2800" b="1" dirty="0">
              <a:solidFill>
                <a:srgbClr val="005E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097" y="1323207"/>
            <a:ext cx="7631723" cy="53181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/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/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  <a:endParaRPr lang="zh-CN" altLang="en-US" sz="2100" b="1" dirty="0">
                <a:solidFill>
                  <a:srgbClr val="005EB8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  <a:endParaRPr lang="zh-CN" altLang="en-US" sz="1200" b="1" dirty="0">
                <a:solidFill>
                  <a:srgbClr val="005EB8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457949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配置项目</a:t>
            </a:r>
            <a:endParaRPr lang="zh-CN" altLang="en-US" sz="2800" b="1" dirty="0">
              <a:solidFill>
                <a:srgbClr val="005E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763" y="824168"/>
            <a:ext cx="8497391" cy="5932141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61919" y="5615641"/>
            <a:ext cx="813420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.Net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Framework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 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.Net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Framework 3.5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否则会出现附录中错误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why?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 flipH="1" flipV="1">
            <a:off x="2151529" y="4778188"/>
            <a:ext cx="251012" cy="4840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/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/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  <a:endParaRPr lang="zh-CN" altLang="en-US" sz="2100" b="1" dirty="0">
                <a:solidFill>
                  <a:srgbClr val="005EB8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  <a:endParaRPr lang="zh-CN" altLang="en-US" sz="1200" b="1" dirty="0">
                <a:solidFill>
                  <a:srgbClr val="005EB8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457949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添加引用</a:t>
            </a:r>
            <a:endParaRPr lang="zh-CN" altLang="en-US" sz="2800" b="1" dirty="0">
              <a:solidFill>
                <a:srgbClr val="005E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12" y="1049059"/>
            <a:ext cx="4204734" cy="315977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96" y="2628944"/>
            <a:ext cx="5723792" cy="3975843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4624959" y="986065"/>
            <a:ext cx="8134202" cy="115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在引用右键添加引用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com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中在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COM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里找到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PcomSever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50648" y="2780631"/>
            <a:ext cx="5764386" cy="39758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/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/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  <a:endParaRPr lang="zh-CN" altLang="en-US" sz="2100" b="1" dirty="0">
                <a:solidFill>
                  <a:srgbClr val="005EB8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  <a:endParaRPr lang="zh-CN" altLang="en-US" sz="1200" b="1" dirty="0">
                <a:solidFill>
                  <a:srgbClr val="005EB8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40034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添加引用</a:t>
            </a:r>
            <a:endParaRPr lang="zh-CN" altLang="en-US" sz="2800" b="1" dirty="0">
              <a:solidFill>
                <a:srgbClr val="005E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61919" y="838646"/>
            <a:ext cx="8134202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Form1().cs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 加 </a:t>
            </a:r>
            <a:r>
              <a:rPr lang="en-US" altLang="zh-CN" sz="16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using</a:t>
            </a: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PCOMMSERVERLib</a:t>
            </a: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;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1626169"/>
            <a:ext cx="9144000" cy="50983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/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/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  <a:endParaRPr lang="zh-CN" altLang="en-US" sz="2100" b="1" dirty="0">
                <a:solidFill>
                  <a:srgbClr val="005EB8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  <a:endParaRPr lang="zh-CN" altLang="en-US" sz="1200" b="1" dirty="0">
                <a:solidFill>
                  <a:srgbClr val="005EB8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457949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设计界面</a:t>
            </a:r>
            <a:endParaRPr lang="zh-CN" altLang="en-US" sz="2800" b="1" dirty="0">
              <a:solidFill>
                <a:srgbClr val="005E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427" y="1995501"/>
            <a:ext cx="8291146" cy="3586434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61919" y="838646"/>
            <a:ext cx="8134202" cy="115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打开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Form1().cs[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打开工具箱，从公共控件中拖动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Button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到设计器中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/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/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  <a:endParaRPr lang="zh-CN" altLang="en-US" sz="2100" b="1" dirty="0">
                <a:solidFill>
                  <a:srgbClr val="005EB8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  <a:endParaRPr lang="zh-CN" altLang="en-US" sz="1200" b="1" dirty="0">
                <a:solidFill>
                  <a:srgbClr val="005EB8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40034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</a:t>
            </a:r>
            <a:endParaRPr lang="zh-CN" altLang="en-US" sz="2800" b="1" dirty="0">
              <a:solidFill>
                <a:srgbClr val="005E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5911" y="787601"/>
            <a:ext cx="8134202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在属性中修改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Name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为“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selectDevice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”，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Text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中修改按键文本为“通讯”，双击“通讯”进入按键响应函数编写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11" y="1638267"/>
            <a:ext cx="8352693" cy="4037607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57070"/>
            <a:ext cx="5459815" cy="28391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/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/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  <a:endParaRPr lang="zh-CN" altLang="en-US" sz="2100" b="1" dirty="0">
                <a:solidFill>
                  <a:srgbClr val="005EB8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  <a:endParaRPr lang="zh-CN" altLang="en-US" sz="1200" b="1" dirty="0">
                <a:solidFill>
                  <a:srgbClr val="005EB8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457949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C# </a:t>
            </a:r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程序结构</a:t>
            </a:r>
            <a:endParaRPr lang="zh-CN" altLang="en-US" sz="2800" b="1" dirty="0">
              <a:solidFill>
                <a:srgbClr val="005E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51792" y="1652762"/>
            <a:ext cx="5740212" cy="33721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lnSpc>
                <a:spcPct val="150000"/>
              </a:lnSpc>
            </a:pP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一个 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C# 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程序主要包括以下部分：</a:t>
            </a:r>
            <a:endParaRPr lang="zh-CN" altLang="en-US" dirty="0">
              <a:solidFill>
                <a:srgbClr val="333333"/>
              </a:solidFill>
              <a:latin typeface="Helvetica Neue"/>
            </a:endParaRPr>
          </a:p>
          <a:p>
            <a:pPr latinLnBrk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 命名空间声明（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Namespace declaration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）</a:t>
            </a:r>
            <a:endParaRPr lang="zh-CN" altLang="en-US" dirty="0">
              <a:solidFill>
                <a:srgbClr val="333333"/>
              </a:solidFill>
              <a:latin typeface="Helvetica Neue"/>
            </a:endParaRPr>
          </a:p>
          <a:p>
            <a:pPr latinLnBrk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 一个 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class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latinLnBrk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 Class 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方法</a:t>
            </a:r>
            <a:endParaRPr lang="zh-CN" altLang="en-US" dirty="0">
              <a:solidFill>
                <a:srgbClr val="333333"/>
              </a:solidFill>
              <a:latin typeface="Helvetica Neue"/>
            </a:endParaRPr>
          </a:p>
          <a:p>
            <a:pPr latinLnBrk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 Class 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属性</a:t>
            </a:r>
            <a:endParaRPr lang="zh-CN" altLang="en-US" dirty="0">
              <a:solidFill>
                <a:srgbClr val="333333"/>
              </a:solidFill>
              <a:latin typeface="Helvetica Neue"/>
            </a:endParaRPr>
          </a:p>
          <a:p>
            <a:pPr latinLnBrk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 一个 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Main 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方法</a:t>
            </a:r>
            <a:endParaRPr lang="zh-CN" altLang="en-US" dirty="0">
              <a:solidFill>
                <a:srgbClr val="333333"/>
              </a:solidFill>
              <a:latin typeface="Helvetica Neue"/>
            </a:endParaRPr>
          </a:p>
          <a:p>
            <a:pPr latinLnBrk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 语句（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Statements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）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&amp; 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表达式（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Expressions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）</a:t>
            </a:r>
            <a:endParaRPr lang="zh-CN" altLang="en-US" dirty="0">
              <a:solidFill>
                <a:srgbClr val="333333"/>
              </a:solidFill>
              <a:latin typeface="Helvetica Neue"/>
            </a:endParaRPr>
          </a:p>
          <a:p>
            <a:pPr latinLnBrk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 注释</a:t>
            </a:r>
            <a:endParaRPr lang="zh-CN" altLang="en-US" dirty="0">
              <a:solidFill>
                <a:srgbClr val="333333"/>
              </a:solidFill>
              <a:latin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/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/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  <a:endParaRPr lang="zh-CN" altLang="en-US" sz="2100" b="1" dirty="0">
                <a:solidFill>
                  <a:srgbClr val="005EB8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  <a:endParaRPr lang="zh-CN" altLang="en-US" sz="1200" b="1" dirty="0">
                <a:solidFill>
                  <a:srgbClr val="005EB8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457949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附录</a:t>
            </a:r>
            <a:endParaRPr lang="zh-CN" altLang="en-US" sz="2800" b="1" dirty="0">
              <a:solidFill>
                <a:srgbClr val="005E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11" y="2508199"/>
            <a:ext cx="8879453" cy="2978202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71824" y="1336630"/>
            <a:ext cx="8134202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打开属性修改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.Net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Framework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 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.Net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Framework 3.5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否则会出现该错误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/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/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  <a:endParaRPr lang="zh-CN" altLang="en-US" sz="2100" b="1" dirty="0">
                <a:solidFill>
                  <a:srgbClr val="005EB8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  <a:endParaRPr lang="zh-CN" altLang="en-US" sz="1200" b="1" dirty="0">
                <a:solidFill>
                  <a:srgbClr val="005EB8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334836" y="101526"/>
            <a:ext cx="6156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程序逻辑</a:t>
            </a:r>
            <a:endParaRPr lang="zh-CN" altLang="en-US" sz="2800" b="1" dirty="0">
              <a:solidFill>
                <a:srgbClr val="005E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824" y="1516066"/>
            <a:ext cx="8664286" cy="3425211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5911" y="787601"/>
            <a:ext cx="8134202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先运行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，再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run Form1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/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/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  <a:endParaRPr lang="zh-CN" altLang="en-US" sz="2100" b="1" dirty="0">
                <a:solidFill>
                  <a:srgbClr val="005EB8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  <a:endParaRPr lang="zh-CN" altLang="en-US" sz="1200" b="1" dirty="0">
                <a:solidFill>
                  <a:srgbClr val="005EB8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334836" y="101526"/>
            <a:ext cx="6156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附录</a:t>
            </a:r>
            <a:endParaRPr lang="zh-CN" altLang="en-US" sz="2800" b="1" dirty="0">
              <a:solidFill>
                <a:srgbClr val="005E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2694554"/>
            <a:ext cx="9144000" cy="406192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-1" y="986065"/>
            <a:ext cx="966475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public virtual </a:t>
            </a:r>
            <a:r>
              <a:rPr lang="en-US" altLang="zh-CN" sz="1600" b="1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void</a:t>
            </a:r>
            <a:r>
              <a:rPr lang="zh-CN" altLang="en-US" sz="1600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GetResponse</a:t>
            </a:r>
            <a:r>
              <a:rPr lang="en-US" altLang="zh-CN" sz="1600" dirty="0">
                <a:solidFill>
                  <a:srgbClr val="000000"/>
                </a:solidFill>
                <a:latin typeface="Calibri" panose="020F0502020204030204" pitchFamily="34" charset="0"/>
                <a:ea typeface="Microsoft YaHei UI" panose="020B0503020204020204" pitchFamily="34" charset="-122"/>
              </a:rPr>
              <a:t>(</a:t>
            </a:r>
            <a:r>
              <a:rPr lang="en-US" altLang="zh-CN" sz="1600" b="1" u="sng" dirty="0">
                <a:solidFill>
                  <a:srgbClr val="0066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int</a:t>
            </a:r>
            <a:r>
              <a:rPr lang="en-US" altLang="zh-CN" sz="1600" u="sng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sz="1600" i="1" u="sng" dirty="0" err="1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dwDevice</a:t>
            </a:r>
            <a:r>
              <a:rPr lang="en-US" altLang="zh-CN" sz="1600" b="1" u="sng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, </a:t>
            </a:r>
            <a:r>
              <a:rPr lang="en-US" altLang="zh-CN" sz="1600" b="1" u="sng" dirty="0">
                <a:solidFill>
                  <a:srgbClr val="0066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string</a:t>
            </a:r>
            <a:r>
              <a:rPr lang="en-US" altLang="zh-CN" sz="1600" u="sng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sz="1600" i="1" u="sng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question</a:t>
            </a:r>
            <a:r>
              <a:rPr lang="en-US" altLang="zh-CN" sz="1600" b="1" u="sng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, </a:t>
            </a:r>
            <a:r>
              <a:rPr lang="en-US" altLang="zh-CN" sz="1600" u="sng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out </a:t>
            </a:r>
            <a:r>
              <a:rPr lang="en-US" altLang="zh-CN" sz="1600" b="1" u="sng" dirty="0">
                <a:solidFill>
                  <a:srgbClr val="0066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string</a:t>
            </a:r>
            <a:r>
              <a:rPr lang="en-US" altLang="zh-CN" sz="1600" u="sng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sz="1600" i="1" u="sng" dirty="0" err="1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pAnswer</a:t>
            </a:r>
            <a:r>
              <a:rPr lang="en-US" altLang="zh-CN" sz="1600" u="sng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</a:t>
            </a:r>
            <a:endParaRPr lang="en-US" altLang="zh-CN" sz="1600" u="sng" dirty="0">
              <a:solidFill>
                <a:srgbClr val="00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en-US" altLang="zh-CN" sz="1600" u="sng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</a:t>
            </a:r>
            <a:r>
              <a:rPr lang="en-US" altLang="zh-CN" sz="1600" b="1" u="sng" dirty="0" err="1">
                <a:solidFill>
                  <a:srgbClr val="0066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PMACSERVERLib</a:t>
            </a:r>
            <a:r>
              <a:rPr lang="en-US" altLang="zh-CN" sz="1600" u="sng" dirty="0" err="1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.</a:t>
            </a:r>
            <a:r>
              <a:rPr lang="en-US" altLang="zh-CN" sz="1600" b="1" u="sng" dirty="0" err="1">
                <a:solidFill>
                  <a:srgbClr val="0066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PmacDeviceClass</a:t>
            </a:r>
            <a:r>
              <a:rPr lang="en-US" altLang="zh-CN" sz="1600" u="sng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zh-CN" altLang="en-US" sz="1600" u="sng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的成员</a:t>
            </a:r>
            <a:endParaRPr lang="en-US" altLang="zh-CN" sz="1600" u="sng" dirty="0">
              <a:solidFill>
                <a:srgbClr val="00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endParaRPr lang="en-US" altLang="zh-CN" sz="1600" u="sng" dirty="0">
              <a:solidFill>
                <a:srgbClr val="00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zh-CN" altLang="en-US" sz="1600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参数说明：</a:t>
            </a:r>
            <a:r>
              <a:rPr lang="en-US" altLang="zh-CN" sz="1600" i="1" u="sng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sz="1600" i="1" u="sng" dirty="0" err="1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dwDevice</a:t>
            </a:r>
            <a:r>
              <a:rPr lang="en-US" altLang="zh-CN" sz="1600" i="1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</a:t>
            </a:r>
            <a:r>
              <a:rPr lang="zh-CN" altLang="en-US" sz="1600" i="1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设备号    </a:t>
            </a:r>
            <a:r>
              <a:rPr lang="en-US" altLang="zh-CN" sz="1600" i="1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0-7</a:t>
            </a:r>
            <a:endParaRPr lang="en-US" altLang="zh-CN" sz="1600" i="1" dirty="0">
              <a:solidFill>
                <a:srgbClr val="00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en-US" altLang="zh-CN" sz="1600" i="1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	 </a:t>
            </a:r>
            <a:r>
              <a:rPr lang="en-US" altLang="zh-CN" sz="1600" i="1" u="sng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question</a:t>
            </a:r>
            <a:r>
              <a:rPr lang="en-US" altLang="zh-CN" sz="1600" b="1" i="1" u="sng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</a:t>
            </a:r>
            <a:r>
              <a:rPr lang="en-US" altLang="zh-CN" sz="1600" b="1" i="1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</a:t>
            </a:r>
            <a:r>
              <a:rPr lang="zh-CN" altLang="en-US" sz="1600" i="1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命令字符串，如“</a:t>
            </a:r>
            <a:r>
              <a:rPr lang="en-US" altLang="zh-CN" sz="1600" i="1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#1J+</a:t>
            </a:r>
            <a:r>
              <a:rPr lang="zh-CN" altLang="en-US" sz="1600" i="1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”、“”</a:t>
            </a:r>
            <a:r>
              <a:rPr lang="en-US" altLang="zh-CN" sz="1600" i="1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P801</a:t>
            </a:r>
            <a:r>
              <a:rPr lang="zh-CN" altLang="en-US" sz="1600" i="1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“</a:t>
            </a:r>
            <a:endParaRPr lang="en-US" altLang="zh-CN" sz="1600" i="1" dirty="0">
              <a:solidFill>
                <a:srgbClr val="00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en-US" altLang="zh-CN" sz="1600" i="1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      </a:t>
            </a:r>
            <a:r>
              <a:rPr lang="en-US" altLang="zh-CN" sz="1600" i="1" u="sng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sz="1600" i="1" u="sng" dirty="0" err="1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pAnswer</a:t>
            </a:r>
            <a:r>
              <a:rPr lang="en-US" altLang="zh-CN" sz="1600" b="1" i="1" u="sng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</a:t>
            </a:r>
            <a:r>
              <a:rPr lang="en-US" altLang="zh-CN" sz="1600" b="1" i="1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</a:t>
            </a:r>
            <a:r>
              <a:rPr lang="zh-CN" altLang="en-US" sz="1600" b="1" i="1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“</a:t>
            </a:r>
            <a:r>
              <a:rPr lang="en-US" altLang="zh-CN" sz="1600" b="1" i="1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P801</a:t>
            </a:r>
            <a:r>
              <a:rPr lang="zh-CN" altLang="en-US" sz="1600" b="1" i="1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的值”  </a:t>
            </a:r>
            <a:endParaRPr lang="en-US" altLang="zh-CN" sz="1600" dirty="0">
              <a:solidFill>
                <a:srgbClr val="00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/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/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  <a:endParaRPr lang="zh-CN" altLang="en-US" sz="2100" b="1" dirty="0">
                <a:solidFill>
                  <a:srgbClr val="005EB8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  <a:endParaRPr lang="zh-CN" altLang="en-US" sz="1200" b="1" dirty="0">
                <a:solidFill>
                  <a:srgbClr val="005EB8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334836" y="101526"/>
            <a:ext cx="6156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附录</a:t>
            </a:r>
            <a:endParaRPr lang="zh-CN" altLang="en-US" sz="2800" b="1" dirty="0">
              <a:solidFill>
                <a:srgbClr val="005E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56434"/>
            <a:ext cx="4031329" cy="247671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664" y="2667366"/>
            <a:ext cx="7777079" cy="43488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798</Words>
  <Application>WPS 演示</Application>
  <PresentationFormat>全屏显示(4:3)</PresentationFormat>
  <Paragraphs>109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隶书</vt:lpstr>
      <vt:lpstr>新宋体</vt:lpstr>
      <vt:lpstr>Helvetica Neue</vt:lpstr>
      <vt:lpstr>Microsoft YaHei UI</vt:lpstr>
      <vt:lpstr>Calibri</vt:lpstr>
      <vt:lpstr>Arial Unicode MS</vt:lpstr>
      <vt:lpstr>等线 Light</vt:lpstr>
      <vt:lpstr>Calibri 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伍绍森</dc:creator>
  <cp:lastModifiedBy>HZX</cp:lastModifiedBy>
  <cp:revision>62</cp:revision>
  <dcterms:created xsi:type="dcterms:W3CDTF">2019-07-16T11:12:00Z</dcterms:created>
  <dcterms:modified xsi:type="dcterms:W3CDTF">2021-05-24T07:01:59Z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B1F24000526E4B8EB2BD8200C06DC7FE</vt:lpwstr>
  </property>
  <property fmtid="{D5CDD505-2E9C-101B-9397-08002B2CF9AE}" pid="3" name="KSOProductBuildVer">
    <vt:lpwstr>2052-11.1.0.10463</vt:lpwstr>
  </property>
</Properties>
</file>