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0" r:id="rId4"/>
    <p:sldId id="258" r:id="rId5"/>
    <p:sldId id="268" r:id="rId6"/>
    <p:sldId id="270" r:id="rId7"/>
    <p:sldId id="271" r:id="rId8"/>
    <p:sldId id="272" r:id="rId9"/>
    <p:sldId id="273" r:id="rId10"/>
    <p:sldId id="294" r:id="rId11"/>
    <p:sldId id="295" r:id="rId12"/>
    <p:sldId id="261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EB8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135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365BF-9101-4349-AFAE-A0D0DEF6FBAF}" type="datetimeFigureOut">
              <a:rPr lang="zh-CN" altLang="en-US" smtClean="0"/>
              <a:t>2019/7/22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C1453-3220-4070-93B1-15FE599C52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533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365BF-9101-4349-AFAE-A0D0DEF6FBAF}" type="datetimeFigureOut">
              <a:rPr lang="zh-CN" altLang="en-US" smtClean="0"/>
              <a:t>2019/7/22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C1453-3220-4070-93B1-15FE599C52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28844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365BF-9101-4349-AFAE-A0D0DEF6FBAF}" type="datetimeFigureOut">
              <a:rPr lang="zh-CN" altLang="en-US" smtClean="0"/>
              <a:t>2019/7/22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C1453-3220-4070-93B1-15FE599C52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98709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365BF-9101-4349-AFAE-A0D0DEF6FBAF}" type="datetimeFigureOut">
              <a:rPr lang="zh-CN" altLang="en-US" smtClean="0"/>
              <a:t>2019/7/22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C1453-3220-4070-93B1-15FE599C52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77082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365BF-9101-4349-AFAE-A0D0DEF6FBAF}" type="datetimeFigureOut">
              <a:rPr lang="zh-CN" altLang="en-US" smtClean="0"/>
              <a:t>2019/7/22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C1453-3220-4070-93B1-15FE599C52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54737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365BF-9101-4349-AFAE-A0D0DEF6FBAF}" type="datetimeFigureOut">
              <a:rPr lang="zh-CN" altLang="en-US" smtClean="0"/>
              <a:t>2019/7/22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C1453-3220-4070-93B1-15FE599C52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7996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365BF-9101-4349-AFAE-A0D0DEF6FBAF}" type="datetimeFigureOut">
              <a:rPr lang="zh-CN" altLang="en-US" smtClean="0"/>
              <a:t>2019/7/22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C1453-3220-4070-93B1-15FE599C52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63169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365BF-9101-4349-AFAE-A0D0DEF6FBAF}" type="datetimeFigureOut">
              <a:rPr lang="zh-CN" altLang="en-US" smtClean="0"/>
              <a:t>2019/7/22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C1453-3220-4070-93B1-15FE599C52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0720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365BF-9101-4349-AFAE-A0D0DEF6FBAF}" type="datetimeFigureOut">
              <a:rPr lang="zh-CN" altLang="en-US" smtClean="0"/>
              <a:t>2019/7/22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C1453-3220-4070-93B1-15FE599C52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55218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365BF-9101-4349-AFAE-A0D0DEF6FBAF}" type="datetimeFigureOut">
              <a:rPr lang="zh-CN" altLang="en-US" smtClean="0"/>
              <a:t>2019/7/22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C1453-3220-4070-93B1-15FE599C52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61909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365BF-9101-4349-AFAE-A0D0DEF6FBAF}" type="datetimeFigureOut">
              <a:rPr lang="zh-CN" altLang="en-US" smtClean="0"/>
              <a:t>2019/7/22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C1453-3220-4070-93B1-15FE599C52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64938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1365BF-9101-4349-AFAE-A0D0DEF6FBAF}" type="datetimeFigureOut">
              <a:rPr lang="zh-CN" altLang="en-US" smtClean="0"/>
              <a:t>2019/7/22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7C1453-3220-4070-93B1-15FE599C52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71979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>
            <a:extLst>
              <a:ext uri="{FF2B5EF4-FFF2-40B4-BE49-F238E27FC236}">
                <a16:creationId xmlns:a16="http://schemas.microsoft.com/office/drawing/2014/main" id="{D4A386AA-15D9-4082-8309-414E04995A2C}"/>
              </a:ext>
            </a:extLst>
          </p:cNvPr>
          <p:cNvGrpSpPr/>
          <p:nvPr/>
        </p:nvGrpSpPr>
        <p:grpSpPr>
          <a:xfrm>
            <a:off x="3453354" y="2860256"/>
            <a:ext cx="6033722" cy="1231410"/>
            <a:chOff x="3453354" y="2860256"/>
            <a:chExt cx="6033722" cy="1231410"/>
          </a:xfrm>
        </p:grpSpPr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9D7CA54D-1782-406C-BD64-3BE0C25D18F9}"/>
                </a:ext>
              </a:extLst>
            </p:cNvPr>
            <p:cNvCxnSpPr>
              <a:cxnSpLocks/>
            </p:cNvCxnSpPr>
            <p:nvPr/>
          </p:nvCxnSpPr>
          <p:spPr>
            <a:xfrm>
              <a:off x="3453355" y="3469118"/>
              <a:ext cx="561828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060C1F8E-AF18-4B43-B7DB-9A29CB04A01B}"/>
                </a:ext>
              </a:extLst>
            </p:cNvPr>
            <p:cNvSpPr txBox="1"/>
            <p:nvPr/>
          </p:nvSpPr>
          <p:spPr>
            <a:xfrm>
              <a:off x="3453354" y="2860256"/>
              <a:ext cx="603372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dirty="0">
                  <a:solidFill>
                    <a:srgbClr val="005EB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PMAC Plot </a:t>
              </a:r>
              <a:r>
                <a:rPr lang="zh-CN" altLang="en-US" sz="2400" b="1" dirty="0">
                  <a:solidFill>
                    <a:srgbClr val="005EB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画图工具使用</a:t>
              </a: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922E7396-891D-46E9-AD7A-26BE1DFEA584}"/>
                </a:ext>
              </a:extLst>
            </p:cNvPr>
            <p:cNvSpPr txBox="1"/>
            <p:nvPr/>
          </p:nvSpPr>
          <p:spPr>
            <a:xfrm>
              <a:off x="3453354" y="3814667"/>
              <a:ext cx="279595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2019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年</a:t>
              </a: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7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月</a:t>
              </a: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22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日</a:t>
              </a:r>
              <a:endPara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AD12738B-7907-4FB7-B198-3EA112D47708}"/>
              </a:ext>
            </a:extLst>
          </p:cNvPr>
          <p:cNvGrpSpPr/>
          <p:nvPr/>
        </p:nvGrpSpPr>
        <p:grpSpPr>
          <a:xfrm>
            <a:off x="-1" y="-1"/>
            <a:ext cx="3456022" cy="6857993"/>
            <a:chOff x="0" y="0"/>
            <a:chExt cx="3202389" cy="6858000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70FB4EB8-A3FC-4DA8-A8E9-E22BA4CE702B}"/>
                </a:ext>
              </a:extLst>
            </p:cNvPr>
            <p:cNvSpPr/>
            <p:nvPr/>
          </p:nvSpPr>
          <p:spPr>
            <a:xfrm>
              <a:off x="0" y="0"/>
              <a:ext cx="2892669" cy="6858000"/>
            </a:xfrm>
            <a:prstGeom prst="rect">
              <a:avLst/>
            </a:prstGeom>
            <a:solidFill>
              <a:srgbClr val="005E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3000" b="1" dirty="0"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A1889530-54C1-4B95-AE94-7F56B75E1E9C}"/>
                </a:ext>
              </a:extLst>
            </p:cNvPr>
            <p:cNvSpPr txBox="1"/>
            <p:nvPr/>
          </p:nvSpPr>
          <p:spPr>
            <a:xfrm>
              <a:off x="724239" y="4930779"/>
              <a:ext cx="2048609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©</a:t>
              </a:r>
              <a:r>
                <a:rPr lang="zh-CN" altLang="en-US" b="1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数控小组</a:t>
              </a: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AABA9EF0-B3E2-4644-9D5E-1094910EEB79}"/>
                </a:ext>
              </a:extLst>
            </p:cNvPr>
            <p:cNvSpPr txBox="1"/>
            <p:nvPr/>
          </p:nvSpPr>
          <p:spPr>
            <a:xfrm>
              <a:off x="491428" y="2977484"/>
              <a:ext cx="2710961" cy="707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000" b="1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汕头大学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113980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7C49CA93-CFB7-43BA-8D84-837E5A72A975}"/>
              </a:ext>
            </a:extLst>
          </p:cNvPr>
          <p:cNvGrpSpPr/>
          <p:nvPr/>
        </p:nvGrpSpPr>
        <p:grpSpPr>
          <a:xfrm>
            <a:off x="-1" y="1816"/>
            <a:ext cx="9566032" cy="722642"/>
            <a:chOff x="0" y="-1"/>
            <a:chExt cx="12726863" cy="828676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922DEDEF-DB88-46DC-B6F2-6E8AAEC1E9D8}"/>
                </a:ext>
              </a:extLst>
            </p:cNvPr>
            <p:cNvSpPr/>
            <p:nvPr/>
          </p:nvSpPr>
          <p:spPr>
            <a:xfrm>
              <a:off x="114300" y="-1"/>
              <a:ext cx="12077700" cy="8286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66700" dist="38100" dir="2700000" sx="107000" sy="107000" algn="tl" rotWithShape="0">
                <a:prstClr val="black">
                  <a:alpha val="2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8610B1A1-9CF7-4B7C-949A-0C39678DC7EB}"/>
                </a:ext>
              </a:extLst>
            </p:cNvPr>
            <p:cNvSpPr/>
            <p:nvPr/>
          </p:nvSpPr>
          <p:spPr>
            <a:xfrm>
              <a:off x="0" y="114300"/>
              <a:ext cx="228600" cy="552450"/>
            </a:xfrm>
            <a:prstGeom prst="rect">
              <a:avLst/>
            </a:prstGeom>
            <a:ln>
              <a:solidFill>
                <a:srgbClr val="005E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388AA15E-9279-47EF-80C0-61DC1C9A4066}"/>
                </a:ext>
              </a:extLst>
            </p:cNvPr>
            <p:cNvSpPr txBox="1"/>
            <p:nvPr/>
          </p:nvSpPr>
          <p:spPr>
            <a:xfrm>
              <a:off x="10461378" y="0"/>
              <a:ext cx="1844921" cy="553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1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汕头大学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B0CF80DE-CD55-437B-B9A4-6A9968C0851D}"/>
                </a:ext>
              </a:extLst>
            </p:cNvPr>
            <p:cNvSpPr txBox="1"/>
            <p:nvPr/>
          </p:nvSpPr>
          <p:spPr>
            <a:xfrm>
              <a:off x="10678254" y="414336"/>
              <a:ext cx="20486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©</a:t>
              </a:r>
              <a:r>
                <a:rPr lang="zh-CN" altLang="en-US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数控小组</a:t>
              </a: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B4C27100-F0DF-4779-9DC7-6C949114BD1B}"/>
              </a:ext>
            </a:extLst>
          </p:cNvPr>
          <p:cNvSpPr txBox="1"/>
          <p:nvPr/>
        </p:nvSpPr>
        <p:spPr>
          <a:xfrm>
            <a:off x="400348" y="101526"/>
            <a:ext cx="60337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主界面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99E439D-A152-4001-A041-8ABCFFD74196}"/>
              </a:ext>
            </a:extLst>
          </p:cNvPr>
          <p:cNvSpPr txBox="1"/>
          <p:nvPr/>
        </p:nvSpPr>
        <p:spPr>
          <a:xfrm>
            <a:off x="886706" y="1387608"/>
            <a:ext cx="8134202" cy="418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从 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Tools 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可打开 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PMAC Plot 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工具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69F4CF5-C38B-42A6-8D2C-4AA580B200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8317" y="1984216"/>
            <a:ext cx="5288574" cy="4873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3434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7C49CA93-CFB7-43BA-8D84-837E5A72A975}"/>
              </a:ext>
            </a:extLst>
          </p:cNvPr>
          <p:cNvGrpSpPr/>
          <p:nvPr/>
        </p:nvGrpSpPr>
        <p:grpSpPr>
          <a:xfrm>
            <a:off x="0" y="1816"/>
            <a:ext cx="9592408" cy="722642"/>
            <a:chOff x="0" y="-1"/>
            <a:chExt cx="12726863" cy="828676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922DEDEF-DB88-46DC-B6F2-6E8AAEC1E9D8}"/>
                </a:ext>
              </a:extLst>
            </p:cNvPr>
            <p:cNvSpPr/>
            <p:nvPr/>
          </p:nvSpPr>
          <p:spPr>
            <a:xfrm>
              <a:off x="114300" y="-1"/>
              <a:ext cx="12077700" cy="8286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66700" dist="38100" dir="2700000" sx="107000" sy="107000" algn="tl" rotWithShape="0">
                <a:prstClr val="black">
                  <a:alpha val="2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8610B1A1-9CF7-4B7C-949A-0C39678DC7EB}"/>
                </a:ext>
              </a:extLst>
            </p:cNvPr>
            <p:cNvSpPr/>
            <p:nvPr/>
          </p:nvSpPr>
          <p:spPr>
            <a:xfrm>
              <a:off x="0" y="114300"/>
              <a:ext cx="228600" cy="552450"/>
            </a:xfrm>
            <a:prstGeom prst="rect">
              <a:avLst/>
            </a:prstGeom>
            <a:ln>
              <a:solidFill>
                <a:srgbClr val="005E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388AA15E-9279-47EF-80C0-61DC1C9A4066}"/>
                </a:ext>
              </a:extLst>
            </p:cNvPr>
            <p:cNvSpPr txBox="1"/>
            <p:nvPr/>
          </p:nvSpPr>
          <p:spPr>
            <a:xfrm>
              <a:off x="10461378" y="0"/>
              <a:ext cx="1844921" cy="553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1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汕头大学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B0CF80DE-CD55-437B-B9A4-6A9968C0851D}"/>
                </a:ext>
              </a:extLst>
            </p:cNvPr>
            <p:cNvSpPr txBox="1"/>
            <p:nvPr/>
          </p:nvSpPr>
          <p:spPr>
            <a:xfrm>
              <a:off x="10678254" y="414336"/>
              <a:ext cx="20486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©</a:t>
              </a:r>
              <a:r>
                <a:rPr lang="zh-CN" altLang="en-US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数控小组</a:t>
              </a: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B4C27100-F0DF-4779-9DC7-6C949114BD1B}"/>
              </a:ext>
            </a:extLst>
          </p:cNvPr>
          <p:cNvSpPr txBox="1"/>
          <p:nvPr/>
        </p:nvSpPr>
        <p:spPr>
          <a:xfrm>
            <a:off x="340258" y="84649"/>
            <a:ext cx="60337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运行一个简单例程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5A712CC-FEC9-4B09-BCAE-060F160743CC}"/>
              </a:ext>
            </a:extLst>
          </p:cNvPr>
          <p:cNvSpPr txBox="1"/>
          <p:nvPr/>
        </p:nvSpPr>
        <p:spPr>
          <a:xfrm>
            <a:off x="383333" y="1437760"/>
            <a:ext cx="8293307" cy="418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调用程序指令：</a:t>
            </a:r>
            <a:r>
              <a:rPr lang="en-US" altLang="zh-CN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&amp;1 B1 R 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解释为打开 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&amp;1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坐标系，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B1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指向程序缓冲区的编号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为运行</a:t>
            </a: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F03FA101-46A3-4566-AC70-AF8DFD12D39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6664"/>
          <a:stretch/>
        </p:blipFill>
        <p:spPr>
          <a:xfrm>
            <a:off x="1815568" y="2802362"/>
            <a:ext cx="7328432" cy="3725758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0454B976-21D3-4AFB-8382-7030227EEE28}"/>
              </a:ext>
            </a:extLst>
          </p:cNvPr>
          <p:cNvSpPr/>
          <p:nvPr/>
        </p:nvSpPr>
        <p:spPr>
          <a:xfrm>
            <a:off x="529701" y="2680082"/>
            <a:ext cx="3746254" cy="397031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chemeClr val="accent2"/>
                </a:solidFill>
              </a:rPr>
              <a:t>&amp;1          ;坐标系为1</a:t>
            </a:r>
            <a:endParaRPr lang="en-US" altLang="zh-CN" sz="1400" dirty="0">
              <a:solidFill>
                <a:schemeClr val="accent2"/>
              </a:solidFill>
            </a:endParaRPr>
          </a:p>
          <a:p>
            <a:r>
              <a:rPr lang="zh-CN" altLang="en-US" sz="1400" dirty="0">
                <a:solidFill>
                  <a:schemeClr val="accent2"/>
                </a:solidFill>
              </a:rPr>
              <a:t>CLOSE  </a:t>
            </a:r>
            <a:r>
              <a:rPr lang="en-US" altLang="zh-CN" sz="1400" dirty="0">
                <a:solidFill>
                  <a:schemeClr val="accent2"/>
                </a:solidFill>
              </a:rPr>
              <a:t>//</a:t>
            </a:r>
            <a:r>
              <a:rPr lang="zh-CN" altLang="en-US" sz="1400" dirty="0">
                <a:solidFill>
                  <a:schemeClr val="accent2"/>
                </a:solidFill>
              </a:rPr>
              <a:t>确认所有缓冲区被关闭</a:t>
            </a:r>
            <a:endParaRPr lang="en-US" altLang="zh-CN" sz="1400" dirty="0">
              <a:solidFill>
                <a:schemeClr val="accent2"/>
              </a:solidFill>
            </a:endParaRPr>
          </a:p>
          <a:p>
            <a:r>
              <a:rPr lang="en-US" altLang="zh-CN" sz="1400" dirty="0">
                <a:solidFill>
                  <a:schemeClr val="accent2"/>
                </a:solidFill>
              </a:rPr>
              <a:t>DELETE GATHER</a:t>
            </a:r>
          </a:p>
          <a:p>
            <a:r>
              <a:rPr lang="en-US" altLang="zh-CN" sz="1400" dirty="0">
                <a:solidFill>
                  <a:schemeClr val="accent2"/>
                </a:solidFill>
              </a:rPr>
              <a:t>OPEN PROG 1</a:t>
            </a:r>
          </a:p>
          <a:p>
            <a:r>
              <a:rPr lang="en-US" altLang="zh-CN" sz="1400" dirty="0">
                <a:solidFill>
                  <a:schemeClr val="accent2"/>
                </a:solidFill>
              </a:rPr>
              <a:t>CLEAR</a:t>
            </a:r>
            <a:endParaRPr lang="zh-CN" altLang="en-US" sz="1400" dirty="0">
              <a:solidFill>
                <a:schemeClr val="accent2"/>
              </a:solidFill>
            </a:endParaRPr>
          </a:p>
          <a:p>
            <a:r>
              <a:rPr lang="zh-CN" altLang="en-US" sz="1400" dirty="0">
                <a:solidFill>
                  <a:schemeClr val="accent2"/>
                </a:solidFill>
              </a:rPr>
              <a:t>/*参数设置段*/</a:t>
            </a:r>
          </a:p>
          <a:p>
            <a:endParaRPr lang="zh-CN" altLang="en-US" sz="1400" dirty="0">
              <a:solidFill>
                <a:schemeClr val="accent2"/>
              </a:solidFill>
            </a:endParaRPr>
          </a:p>
          <a:p>
            <a:endParaRPr lang="zh-CN" altLang="en-US" sz="1400" dirty="0">
              <a:solidFill>
                <a:schemeClr val="accent2"/>
              </a:solidFill>
            </a:endParaRPr>
          </a:p>
          <a:p>
            <a:endParaRPr lang="zh-CN" altLang="en-US" sz="1400" dirty="0">
              <a:solidFill>
                <a:schemeClr val="accent2"/>
              </a:solidFill>
            </a:endParaRPr>
          </a:p>
          <a:p>
            <a:r>
              <a:rPr lang="zh-CN" altLang="en-US" sz="1400" dirty="0">
                <a:solidFill>
                  <a:schemeClr val="accent2"/>
                </a:solidFill>
              </a:rPr>
              <a:t>/*参数设置段结束*/</a:t>
            </a:r>
          </a:p>
          <a:p>
            <a:r>
              <a:rPr lang="zh-CN" altLang="en-US" sz="1400" dirty="0">
                <a:solidFill>
                  <a:schemeClr val="accent2"/>
                </a:solidFill>
              </a:rPr>
              <a:t>OPEN PROG </a:t>
            </a:r>
            <a:r>
              <a:rPr lang="en-US" altLang="zh-CN" sz="1400" dirty="0">
                <a:solidFill>
                  <a:schemeClr val="accent2"/>
                </a:solidFill>
              </a:rPr>
              <a:t>1</a:t>
            </a:r>
            <a:r>
              <a:rPr lang="zh-CN" altLang="en-US" sz="1400" dirty="0">
                <a:solidFill>
                  <a:schemeClr val="accent2"/>
                </a:solidFill>
              </a:rPr>
              <a:t>  ;程序号为</a:t>
            </a:r>
            <a:r>
              <a:rPr lang="en-US" altLang="zh-CN" sz="1400" dirty="0">
                <a:solidFill>
                  <a:schemeClr val="accent2"/>
                </a:solidFill>
              </a:rPr>
              <a:t>1</a:t>
            </a:r>
          </a:p>
          <a:p>
            <a:r>
              <a:rPr lang="zh-CN" altLang="en-US" sz="1400" dirty="0">
                <a:solidFill>
                  <a:schemeClr val="accent2"/>
                </a:solidFill>
              </a:rPr>
              <a:t>CLEAR</a:t>
            </a:r>
          </a:p>
          <a:p>
            <a:r>
              <a:rPr lang="zh-CN" altLang="en-US" sz="1400" dirty="0">
                <a:solidFill>
                  <a:schemeClr val="accent2"/>
                </a:solidFill>
              </a:rPr>
              <a:t>/*************程序主体开始************/</a:t>
            </a:r>
          </a:p>
          <a:p>
            <a:endParaRPr lang="zh-CN" altLang="en-US" sz="1400" dirty="0">
              <a:solidFill>
                <a:schemeClr val="accent2"/>
              </a:solidFill>
            </a:endParaRPr>
          </a:p>
          <a:p>
            <a:endParaRPr lang="zh-CN" altLang="en-US" sz="1400" dirty="0">
              <a:solidFill>
                <a:schemeClr val="accent2"/>
              </a:solidFill>
            </a:endParaRPr>
          </a:p>
          <a:p>
            <a:endParaRPr lang="zh-CN" altLang="en-US" sz="1400" dirty="0">
              <a:solidFill>
                <a:schemeClr val="accent2"/>
              </a:solidFill>
            </a:endParaRPr>
          </a:p>
          <a:p>
            <a:r>
              <a:rPr lang="zh-CN" altLang="en-US" sz="1400" dirty="0">
                <a:solidFill>
                  <a:schemeClr val="accent2"/>
                </a:solidFill>
              </a:rPr>
              <a:t>/*************程序主体结束************/</a:t>
            </a:r>
          </a:p>
          <a:p>
            <a:r>
              <a:rPr lang="zh-CN" altLang="en-US" sz="1400" dirty="0">
                <a:solidFill>
                  <a:schemeClr val="accent2"/>
                </a:solidFill>
              </a:rPr>
              <a:t>CLOSE</a:t>
            </a: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4DFB4AB3-EB40-43C5-8D2C-EB8251AB5BD3}"/>
              </a:ext>
            </a:extLst>
          </p:cNvPr>
          <p:cNvCxnSpPr/>
          <p:nvPr/>
        </p:nvCxnSpPr>
        <p:spPr>
          <a:xfrm>
            <a:off x="628547" y="1805437"/>
            <a:ext cx="142240" cy="9251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1ED8A15A-69E2-43F7-AE18-0CB54F9AD12E}"/>
              </a:ext>
            </a:extLst>
          </p:cNvPr>
          <p:cNvCxnSpPr/>
          <p:nvPr/>
        </p:nvCxnSpPr>
        <p:spPr>
          <a:xfrm>
            <a:off x="1016001" y="1855951"/>
            <a:ext cx="548640" cy="30411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A887C7AE-3F0F-433E-B4DB-EEC38B5182A3}"/>
              </a:ext>
            </a:extLst>
          </p:cNvPr>
          <p:cNvSpPr/>
          <p:nvPr/>
        </p:nvSpPr>
        <p:spPr>
          <a:xfrm>
            <a:off x="2850508" y="2365629"/>
            <a:ext cx="1352900" cy="43673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b="1" dirty="0"/>
              <a:t>程序结构</a:t>
            </a:r>
          </a:p>
        </p:txBody>
      </p:sp>
    </p:spTree>
    <p:extLst>
      <p:ext uri="{BB962C8B-B14F-4D97-AF65-F5344CB8AC3E}">
        <p14:creationId xmlns:p14="http://schemas.microsoft.com/office/powerpoint/2010/main" val="16175131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7C49CA93-CFB7-43BA-8D84-837E5A72A975}"/>
              </a:ext>
            </a:extLst>
          </p:cNvPr>
          <p:cNvGrpSpPr/>
          <p:nvPr/>
        </p:nvGrpSpPr>
        <p:grpSpPr>
          <a:xfrm>
            <a:off x="0" y="1816"/>
            <a:ext cx="9592408" cy="722642"/>
            <a:chOff x="0" y="-1"/>
            <a:chExt cx="12726863" cy="828676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922DEDEF-DB88-46DC-B6F2-6E8AAEC1E9D8}"/>
                </a:ext>
              </a:extLst>
            </p:cNvPr>
            <p:cNvSpPr/>
            <p:nvPr/>
          </p:nvSpPr>
          <p:spPr>
            <a:xfrm>
              <a:off x="114300" y="-1"/>
              <a:ext cx="12077700" cy="8286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66700" dist="38100" dir="2700000" sx="107000" sy="107000" algn="tl" rotWithShape="0">
                <a:prstClr val="black">
                  <a:alpha val="2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8610B1A1-9CF7-4B7C-949A-0C39678DC7EB}"/>
                </a:ext>
              </a:extLst>
            </p:cNvPr>
            <p:cNvSpPr/>
            <p:nvPr/>
          </p:nvSpPr>
          <p:spPr>
            <a:xfrm>
              <a:off x="0" y="114300"/>
              <a:ext cx="228600" cy="552450"/>
            </a:xfrm>
            <a:prstGeom prst="rect">
              <a:avLst/>
            </a:prstGeom>
            <a:ln>
              <a:solidFill>
                <a:srgbClr val="005E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388AA15E-9279-47EF-80C0-61DC1C9A4066}"/>
                </a:ext>
              </a:extLst>
            </p:cNvPr>
            <p:cNvSpPr txBox="1"/>
            <p:nvPr/>
          </p:nvSpPr>
          <p:spPr>
            <a:xfrm>
              <a:off x="10461378" y="0"/>
              <a:ext cx="1844921" cy="553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1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汕头大学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B0CF80DE-CD55-437B-B9A4-6A9968C0851D}"/>
                </a:ext>
              </a:extLst>
            </p:cNvPr>
            <p:cNvSpPr txBox="1"/>
            <p:nvPr/>
          </p:nvSpPr>
          <p:spPr>
            <a:xfrm>
              <a:off x="10678254" y="414336"/>
              <a:ext cx="20486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©</a:t>
              </a:r>
              <a:r>
                <a:rPr lang="zh-CN" altLang="en-US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数控小组</a:t>
              </a: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B4C27100-F0DF-4779-9DC7-6C949114BD1B}"/>
              </a:ext>
            </a:extLst>
          </p:cNvPr>
          <p:cNvSpPr txBox="1"/>
          <p:nvPr/>
        </p:nvSpPr>
        <p:spPr>
          <a:xfrm>
            <a:off x="340258" y="101526"/>
            <a:ext cx="60337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运行一个简单例程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6F00E79-D417-41C4-921A-A115EDCFC52F}"/>
              </a:ext>
            </a:extLst>
          </p:cNvPr>
          <p:cNvSpPr/>
          <p:nvPr/>
        </p:nvSpPr>
        <p:spPr>
          <a:xfrm>
            <a:off x="323244" y="6419779"/>
            <a:ext cx="8628934" cy="336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注意：点击下载按钮，是把参数设置段内容拷入缓存区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EPROM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 输入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&amp;1 B1 R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才运行程序主体</a:t>
            </a: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9D4EEDCC-CD41-45F0-A3E2-AF77D5E28D04}"/>
              </a:ext>
            </a:extLst>
          </p:cNvPr>
          <p:cNvGrpSpPr/>
          <p:nvPr/>
        </p:nvGrpSpPr>
        <p:grpSpPr>
          <a:xfrm>
            <a:off x="4935015" y="662984"/>
            <a:ext cx="5034491" cy="3745005"/>
            <a:chOff x="4954157" y="912393"/>
            <a:chExt cx="5034491" cy="3745005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3ED1588-4E62-4AB1-950B-85BA6D89D55C}"/>
                </a:ext>
              </a:extLst>
            </p:cNvPr>
            <p:cNvSpPr txBox="1"/>
            <p:nvPr/>
          </p:nvSpPr>
          <p:spPr>
            <a:xfrm>
              <a:off x="5049975" y="1348800"/>
              <a:ext cx="4079631" cy="3308598"/>
            </a:xfrm>
            <a:prstGeom prst="rect">
              <a:avLst/>
            </a:prstGeom>
            <a:solidFill>
              <a:schemeClr val="bg2"/>
            </a:solidFill>
          </p:spPr>
          <p:txBody>
            <a:bodyPr wrap="square" numCol="1" rtlCol="0">
              <a:spAutoFit/>
            </a:bodyPr>
            <a:lstStyle/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&amp;1         /*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坐标系为</a:t>
              </a:r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1*/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CLOSE /*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确认所有缓冲区被关闭*</a:t>
              </a:r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/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DELETE GATHER /*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清除收集的数据，如果有，清内存*</a:t>
              </a:r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/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UNDEFINE  ALL/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*去除所有轴定义*</a:t>
              </a:r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/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/*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参数设置段*</a:t>
              </a:r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/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#1-&gt;1638.4X 	;/*#1638.4=16384/10,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丝杆导程为</a:t>
              </a:r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10mm)*/	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#1j/;       /*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电机</a:t>
              </a:r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#1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停止*</a:t>
              </a:r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/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/*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参数设置段结束*</a:t>
              </a:r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/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OPEN PROG 1  ;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程序号为</a:t>
              </a:r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CLEAR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/*************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程序主体开始************</a:t>
              </a:r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/ 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INC  /*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增量运动模式*</a:t>
              </a:r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/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F 5  //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速度</a:t>
              </a:r>
              <a:endParaRPr lang="en-US" altLang="zh-CN" sz="11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X 10     /*X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正方向前进</a:t>
              </a:r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10mm*/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Dwell 1000   /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*延时</a:t>
              </a:r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1000ms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*</a:t>
              </a:r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/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F 25  //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速度加快</a:t>
              </a:r>
              <a:endParaRPr lang="en-US" altLang="zh-CN" sz="11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X -10  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/*************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程序主体结束************</a:t>
              </a:r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/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CLOSE</a:t>
              </a: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B6CA7557-5F4C-401A-A9C6-313B9844EF70}"/>
                </a:ext>
              </a:extLst>
            </p:cNvPr>
            <p:cNvSpPr/>
            <p:nvPr/>
          </p:nvSpPr>
          <p:spPr>
            <a:xfrm>
              <a:off x="4954157" y="912393"/>
              <a:ext cx="5034491" cy="33669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例程：</a:t>
              </a:r>
            </a:p>
          </p:txBody>
        </p: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ECB70C0B-7960-4BE6-B2ED-0A322586F50C}"/>
                </a:ext>
              </a:extLst>
            </p:cNvPr>
            <p:cNvCxnSpPr>
              <a:cxnSpLocks/>
            </p:cNvCxnSpPr>
            <p:nvPr/>
          </p:nvCxnSpPr>
          <p:spPr>
            <a:xfrm>
              <a:off x="5049975" y="1249088"/>
              <a:ext cx="3770401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BA13B30E-A886-4735-8A4B-5C6A2635A11E}"/>
              </a:ext>
            </a:extLst>
          </p:cNvPr>
          <p:cNvGrpSpPr/>
          <p:nvPr/>
        </p:nvGrpSpPr>
        <p:grpSpPr>
          <a:xfrm>
            <a:off x="340258" y="1284256"/>
            <a:ext cx="4120198" cy="1499004"/>
            <a:chOff x="340258" y="1284256"/>
            <a:chExt cx="4120198" cy="1499004"/>
          </a:xfrm>
        </p:grpSpPr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E5A712CC-FEC9-4B09-BCAE-060F160743CC}"/>
                </a:ext>
              </a:extLst>
            </p:cNvPr>
            <p:cNvSpPr txBox="1"/>
            <p:nvPr/>
          </p:nvSpPr>
          <p:spPr>
            <a:xfrm>
              <a:off x="380825" y="1626405"/>
              <a:ext cx="4079631" cy="11568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让</a:t>
              </a:r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号工作台向正方向运动</a:t>
              </a:r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10mm</a:t>
              </a:r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，速度</a:t>
              </a:r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，停止</a:t>
              </a:r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1s</a:t>
              </a:r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后，速度</a:t>
              </a:r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25</a:t>
              </a:r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，负方向运动</a:t>
              </a:r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10mm</a:t>
              </a:r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，运行前确认行程是否会碰撞。</a:t>
              </a:r>
            </a:p>
          </p:txBody>
        </p: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2143C29C-66AD-4C40-B2C1-8C1A320A5B64}"/>
                </a:ext>
              </a:extLst>
            </p:cNvPr>
            <p:cNvCxnSpPr/>
            <p:nvPr/>
          </p:nvCxnSpPr>
          <p:spPr>
            <a:xfrm>
              <a:off x="482287" y="1653588"/>
              <a:ext cx="3876705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7D8D2E27-82B9-4841-9988-842D63688BE8}"/>
                </a:ext>
              </a:extLst>
            </p:cNvPr>
            <p:cNvSpPr/>
            <p:nvPr/>
          </p:nvSpPr>
          <p:spPr>
            <a:xfrm>
              <a:off x="340258" y="1284256"/>
              <a:ext cx="110799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例程目的</a:t>
              </a:r>
              <a:endParaRPr lang="zh-CN" altLang="en-US" dirty="0"/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53375932-3D00-437F-AB31-FD70CE3B7891}"/>
              </a:ext>
            </a:extLst>
          </p:cNvPr>
          <p:cNvGrpSpPr/>
          <p:nvPr/>
        </p:nvGrpSpPr>
        <p:grpSpPr>
          <a:xfrm>
            <a:off x="380825" y="3025784"/>
            <a:ext cx="3713201" cy="1630301"/>
            <a:chOff x="380825" y="3340306"/>
            <a:chExt cx="3713201" cy="1630301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FDD4F81-15A8-4F12-AC40-510956F571E9}"/>
                </a:ext>
              </a:extLst>
            </p:cNvPr>
            <p:cNvSpPr txBox="1"/>
            <p:nvPr/>
          </p:nvSpPr>
          <p:spPr>
            <a:xfrm>
              <a:off x="380825" y="3340306"/>
              <a:ext cx="3652731" cy="1526187"/>
            </a:xfrm>
            <a:prstGeom prst="rect">
              <a:avLst/>
            </a:prstGeom>
            <a:solidFill>
              <a:schemeClr val="accent1"/>
            </a:solidFill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拷贝右边例程到程序中，点击下载按钮，查看面板提示下载状态，在</a:t>
              </a:r>
              <a:r>
                <a:rPr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Terminal</a:t>
              </a: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面板输入 </a:t>
              </a:r>
              <a:r>
                <a:rPr lang="en-US" altLang="zh-CN" sz="1600" b="1" dirty="0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&amp;1 B1 R </a:t>
              </a: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即可运行程序</a:t>
              </a:r>
              <a:endPara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endPara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矩形: 圆角 28">
              <a:extLst>
                <a:ext uri="{FF2B5EF4-FFF2-40B4-BE49-F238E27FC236}">
                  <a16:creationId xmlns:a16="http://schemas.microsoft.com/office/drawing/2014/main" id="{97594927-B859-45A7-A288-3CA3C32D4A1F}"/>
                </a:ext>
              </a:extLst>
            </p:cNvPr>
            <p:cNvSpPr/>
            <p:nvPr/>
          </p:nvSpPr>
          <p:spPr>
            <a:xfrm>
              <a:off x="3372630" y="4533874"/>
              <a:ext cx="721396" cy="436733"/>
            </a:xfrm>
            <a:prstGeom prst="round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/>
                <a:t>操作</a:t>
              </a:r>
            </a:p>
          </p:txBody>
        </p:sp>
      </p:grpSp>
      <p:pic>
        <p:nvPicPr>
          <p:cNvPr id="31" name="图片 30">
            <a:extLst>
              <a:ext uri="{FF2B5EF4-FFF2-40B4-BE49-F238E27FC236}">
                <a16:creationId xmlns:a16="http://schemas.microsoft.com/office/drawing/2014/main" id="{046B0C0B-DB45-4DE2-BF8B-39CD2B9ADF7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5098"/>
          <a:stretch/>
        </p:blipFill>
        <p:spPr>
          <a:xfrm>
            <a:off x="253608" y="4859096"/>
            <a:ext cx="4288157" cy="1162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89067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7C49CA93-CFB7-43BA-8D84-837E5A72A975}"/>
              </a:ext>
            </a:extLst>
          </p:cNvPr>
          <p:cNvGrpSpPr/>
          <p:nvPr/>
        </p:nvGrpSpPr>
        <p:grpSpPr>
          <a:xfrm>
            <a:off x="-1" y="1816"/>
            <a:ext cx="9566032" cy="722642"/>
            <a:chOff x="0" y="-1"/>
            <a:chExt cx="12726863" cy="828676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922DEDEF-DB88-46DC-B6F2-6E8AAEC1E9D8}"/>
                </a:ext>
              </a:extLst>
            </p:cNvPr>
            <p:cNvSpPr/>
            <p:nvPr/>
          </p:nvSpPr>
          <p:spPr>
            <a:xfrm>
              <a:off x="114300" y="-1"/>
              <a:ext cx="12077700" cy="8286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66700" dist="38100" dir="2700000" sx="107000" sy="107000" algn="tl" rotWithShape="0">
                <a:prstClr val="black">
                  <a:alpha val="2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8610B1A1-9CF7-4B7C-949A-0C39678DC7EB}"/>
                </a:ext>
              </a:extLst>
            </p:cNvPr>
            <p:cNvSpPr/>
            <p:nvPr/>
          </p:nvSpPr>
          <p:spPr>
            <a:xfrm>
              <a:off x="0" y="114300"/>
              <a:ext cx="228600" cy="552450"/>
            </a:xfrm>
            <a:prstGeom prst="rect">
              <a:avLst/>
            </a:prstGeom>
            <a:ln>
              <a:solidFill>
                <a:srgbClr val="005E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388AA15E-9279-47EF-80C0-61DC1C9A4066}"/>
                </a:ext>
              </a:extLst>
            </p:cNvPr>
            <p:cNvSpPr txBox="1"/>
            <p:nvPr/>
          </p:nvSpPr>
          <p:spPr>
            <a:xfrm>
              <a:off x="10461378" y="0"/>
              <a:ext cx="1844921" cy="553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1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汕头大学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B0CF80DE-CD55-437B-B9A4-6A9968C0851D}"/>
                </a:ext>
              </a:extLst>
            </p:cNvPr>
            <p:cNvSpPr txBox="1"/>
            <p:nvPr/>
          </p:nvSpPr>
          <p:spPr>
            <a:xfrm>
              <a:off x="10678254" y="414336"/>
              <a:ext cx="20486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©</a:t>
              </a:r>
              <a:r>
                <a:rPr lang="zh-CN" altLang="en-US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数控小组</a:t>
              </a: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B4C27100-F0DF-4779-9DC7-6C949114BD1B}"/>
              </a:ext>
            </a:extLst>
          </p:cNvPr>
          <p:cNvSpPr txBox="1"/>
          <p:nvPr/>
        </p:nvSpPr>
        <p:spPr>
          <a:xfrm>
            <a:off x="400348" y="101526"/>
            <a:ext cx="60337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数据采集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99E439D-A152-4001-A041-8ABCFFD74196}"/>
              </a:ext>
            </a:extLst>
          </p:cNvPr>
          <p:cNvSpPr txBox="1"/>
          <p:nvPr/>
        </p:nvSpPr>
        <p:spPr>
          <a:xfrm>
            <a:off x="886706" y="1387608"/>
            <a:ext cx="8134202" cy="418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从 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Tools 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中打开 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PMAC PLOT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数据采集软件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EEF856FD-6A08-45F7-BBB5-976D8252C0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028" y="2005962"/>
            <a:ext cx="7927861" cy="4322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6158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7C49CA93-CFB7-43BA-8D84-837E5A72A975}"/>
              </a:ext>
            </a:extLst>
          </p:cNvPr>
          <p:cNvGrpSpPr/>
          <p:nvPr/>
        </p:nvGrpSpPr>
        <p:grpSpPr>
          <a:xfrm>
            <a:off x="-1" y="1816"/>
            <a:ext cx="9566032" cy="722642"/>
            <a:chOff x="0" y="-1"/>
            <a:chExt cx="12726863" cy="828676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922DEDEF-DB88-46DC-B6F2-6E8AAEC1E9D8}"/>
                </a:ext>
              </a:extLst>
            </p:cNvPr>
            <p:cNvSpPr/>
            <p:nvPr/>
          </p:nvSpPr>
          <p:spPr>
            <a:xfrm>
              <a:off x="114300" y="-1"/>
              <a:ext cx="12077700" cy="8286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66700" dist="38100" dir="2700000" sx="107000" sy="107000" algn="tl" rotWithShape="0">
                <a:prstClr val="black">
                  <a:alpha val="2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8610B1A1-9CF7-4B7C-949A-0C39678DC7EB}"/>
                </a:ext>
              </a:extLst>
            </p:cNvPr>
            <p:cNvSpPr/>
            <p:nvPr/>
          </p:nvSpPr>
          <p:spPr>
            <a:xfrm>
              <a:off x="0" y="114300"/>
              <a:ext cx="228600" cy="552450"/>
            </a:xfrm>
            <a:prstGeom prst="rect">
              <a:avLst/>
            </a:prstGeom>
            <a:ln>
              <a:solidFill>
                <a:srgbClr val="005E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388AA15E-9279-47EF-80C0-61DC1C9A4066}"/>
                </a:ext>
              </a:extLst>
            </p:cNvPr>
            <p:cNvSpPr txBox="1"/>
            <p:nvPr/>
          </p:nvSpPr>
          <p:spPr>
            <a:xfrm>
              <a:off x="10461378" y="0"/>
              <a:ext cx="1844921" cy="553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1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汕头大学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B0CF80DE-CD55-437B-B9A4-6A9968C0851D}"/>
                </a:ext>
              </a:extLst>
            </p:cNvPr>
            <p:cNvSpPr txBox="1"/>
            <p:nvPr/>
          </p:nvSpPr>
          <p:spPr>
            <a:xfrm>
              <a:off x="10678254" y="414336"/>
              <a:ext cx="20486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©</a:t>
              </a:r>
              <a:r>
                <a:rPr lang="zh-CN" altLang="en-US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数控小组</a:t>
              </a: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B4C27100-F0DF-4779-9DC7-6C949114BD1B}"/>
              </a:ext>
            </a:extLst>
          </p:cNvPr>
          <p:cNvSpPr txBox="1"/>
          <p:nvPr/>
        </p:nvSpPr>
        <p:spPr>
          <a:xfrm>
            <a:off x="400348" y="101526"/>
            <a:ext cx="60337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数据采集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99E439D-A152-4001-A041-8ABCFFD74196}"/>
              </a:ext>
            </a:extLst>
          </p:cNvPr>
          <p:cNvSpPr txBox="1"/>
          <p:nvPr/>
        </p:nvSpPr>
        <p:spPr>
          <a:xfrm>
            <a:off x="85911" y="2481240"/>
            <a:ext cx="8134202" cy="18955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下载上述例程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先点击 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Define Gather Buffer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然后输入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GAT &amp;1 B1 R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会自动开始收集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收集完毕后点击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Upload Data</a:t>
            </a:r>
          </a:p>
          <a:p>
            <a:pPr>
              <a:lnSpc>
                <a:spcPct val="150000"/>
              </a:lnSpc>
            </a:pP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74E8E8CC-43DE-4749-9EBB-05AC076743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9876" y="1620455"/>
            <a:ext cx="4728213" cy="4338021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996F1589-54A3-4296-9619-FF3CD8E81646}"/>
              </a:ext>
            </a:extLst>
          </p:cNvPr>
          <p:cNvSpPr/>
          <p:nvPr/>
        </p:nvSpPr>
        <p:spPr>
          <a:xfrm>
            <a:off x="172299" y="6240779"/>
            <a:ext cx="8885790" cy="6136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注意：也可点击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Begin Gathering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，从点击时刻开始收集数据，运行程序后，再点击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End Gathering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停止收集。同样需要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Upload Data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再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Plot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5229724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7C49CA93-CFB7-43BA-8D84-837E5A72A975}"/>
              </a:ext>
            </a:extLst>
          </p:cNvPr>
          <p:cNvGrpSpPr/>
          <p:nvPr/>
        </p:nvGrpSpPr>
        <p:grpSpPr>
          <a:xfrm>
            <a:off x="-1" y="1816"/>
            <a:ext cx="9566032" cy="722642"/>
            <a:chOff x="0" y="-1"/>
            <a:chExt cx="12726863" cy="828676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922DEDEF-DB88-46DC-B6F2-6E8AAEC1E9D8}"/>
                </a:ext>
              </a:extLst>
            </p:cNvPr>
            <p:cNvSpPr/>
            <p:nvPr/>
          </p:nvSpPr>
          <p:spPr>
            <a:xfrm>
              <a:off x="114300" y="-1"/>
              <a:ext cx="12077700" cy="8286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66700" dist="38100" dir="2700000" sx="107000" sy="107000" algn="tl" rotWithShape="0">
                <a:prstClr val="black">
                  <a:alpha val="2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8610B1A1-9CF7-4B7C-949A-0C39678DC7EB}"/>
                </a:ext>
              </a:extLst>
            </p:cNvPr>
            <p:cNvSpPr/>
            <p:nvPr/>
          </p:nvSpPr>
          <p:spPr>
            <a:xfrm>
              <a:off x="0" y="114300"/>
              <a:ext cx="228600" cy="552450"/>
            </a:xfrm>
            <a:prstGeom prst="rect">
              <a:avLst/>
            </a:prstGeom>
            <a:ln>
              <a:solidFill>
                <a:srgbClr val="005E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388AA15E-9279-47EF-80C0-61DC1C9A4066}"/>
                </a:ext>
              </a:extLst>
            </p:cNvPr>
            <p:cNvSpPr txBox="1"/>
            <p:nvPr/>
          </p:nvSpPr>
          <p:spPr>
            <a:xfrm>
              <a:off x="10461378" y="0"/>
              <a:ext cx="1844921" cy="553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1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汕头大学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B0CF80DE-CD55-437B-B9A4-6A9968C0851D}"/>
                </a:ext>
              </a:extLst>
            </p:cNvPr>
            <p:cNvSpPr txBox="1"/>
            <p:nvPr/>
          </p:nvSpPr>
          <p:spPr>
            <a:xfrm>
              <a:off x="10678254" y="414336"/>
              <a:ext cx="20486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©</a:t>
              </a:r>
              <a:r>
                <a:rPr lang="zh-CN" altLang="en-US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数控小组</a:t>
              </a: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B4C27100-F0DF-4779-9DC7-6C949114BD1B}"/>
              </a:ext>
            </a:extLst>
          </p:cNvPr>
          <p:cNvSpPr txBox="1"/>
          <p:nvPr/>
        </p:nvSpPr>
        <p:spPr>
          <a:xfrm>
            <a:off x="400348" y="101526"/>
            <a:ext cx="60337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数据采集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99E439D-A152-4001-A041-8ABCFFD74196}"/>
              </a:ext>
            </a:extLst>
          </p:cNvPr>
          <p:cNvSpPr txBox="1"/>
          <p:nvPr/>
        </p:nvSpPr>
        <p:spPr>
          <a:xfrm>
            <a:off x="564776" y="1085777"/>
            <a:ext cx="8014447" cy="7875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5.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选择需要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Plot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的数据，分别选择 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Cmd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Pos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Act Pos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再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Add to Left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6.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最后点击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Plot Data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画图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7EDBAE1B-7C5D-496A-9BB2-A9B753ADA4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1038" y="2243411"/>
            <a:ext cx="4837165" cy="4505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01301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>
            <a:extLst>
              <a:ext uri="{FF2B5EF4-FFF2-40B4-BE49-F238E27FC236}">
                <a16:creationId xmlns:a16="http://schemas.microsoft.com/office/drawing/2014/main" id="{CAC881E6-8A4B-43EF-9B94-AD7574AE2E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665106"/>
            <a:ext cx="6934200" cy="5143500"/>
          </a:xfrm>
          <a:prstGeom prst="rect">
            <a:avLst/>
          </a:prstGeom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7C49CA93-CFB7-43BA-8D84-837E5A72A975}"/>
              </a:ext>
            </a:extLst>
          </p:cNvPr>
          <p:cNvGrpSpPr/>
          <p:nvPr/>
        </p:nvGrpSpPr>
        <p:grpSpPr>
          <a:xfrm>
            <a:off x="-1" y="1816"/>
            <a:ext cx="9566032" cy="722642"/>
            <a:chOff x="0" y="-1"/>
            <a:chExt cx="12726863" cy="828676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922DEDEF-DB88-46DC-B6F2-6E8AAEC1E9D8}"/>
                </a:ext>
              </a:extLst>
            </p:cNvPr>
            <p:cNvSpPr/>
            <p:nvPr/>
          </p:nvSpPr>
          <p:spPr>
            <a:xfrm>
              <a:off x="114300" y="-1"/>
              <a:ext cx="12077700" cy="8286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66700" dist="38100" dir="2700000" sx="107000" sy="107000" algn="tl" rotWithShape="0">
                <a:prstClr val="black">
                  <a:alpha val="2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8610B1A1-9CF7-4B7C-949A-0C39678DC7EB}"/>
                </a:ext>
              </a:extLst>
            </p:cNvPr>
            <p:cNvSpPr/>
            <p:nvPr/>
          </p:nvSpPr>
          <p:spPr>
            <a:xfrm>
              <a:off x="0" y="114300"/>
              <a:ext cx="228600" cy="552450"/>
            </a:xfrm>
            <a:prstGeom prst="rect">
              <a:avLst/>
            </a:prstGeom>
            <a:ln>
              <a:solidFill>
                <a:srgbClr val="005E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388AA15E-9279-47EF-80C0-61DC1C9A4066}"/>
                </a:ext>
              </a:extLst>
            </p:cNvPr>
            <p:cNvSpPr txBox="1"/>
            <p:nvPr/>
          </p:nvSpPr>
          <p:spPr>
            <a:xfrm>
              <a:off x="10461378" y="0"/>
              <a:ext cx="1844921" cy="553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1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汕头大学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B0CF80DE-CD55-437B-B9A4-6A9968C0851D}"/>
                </a:ext>
              </a:extLst>
            </p:cNvPr>
            <p:cNvSpPr txBox="1"/>
            <p:nvPr/>
          </p:nvSpPr>
          <p:spPr>
            <a:xfrm>
              <a:off x="10678254" y="414336"/>
              <a:ext cx="20486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©</a:t>
              </a:r>
              <a:r>
                <a:rPr lang="zh-CN" altLang="en-US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数控小组</a:t>
              </a: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B4C27100-F0DF-4779-9DC7-6C949114BD1B}"/>
              </a:ext>
            </a:extLst>
          </p:cNvPr>
          <p:cNvSpPr txBox="1"/>
          <p:nvPr/>
        </p:nvSpPr>
        <p:spPr>
          <a:xfrm>
            <a:off x="400348" y="101526"/>
            <a:ext cx="60337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数据采集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99E439D-A152-4001-A041-8ABCFFD74196}"/>
              </a:ext>
            </a:extLst>
          </p:cNvPr>
          <p:cNvSpPr txBox="1"/>
          <p:nvPr/>
        </p:nvSpPr>
        <p:spPr>
          <a:xfrm>
            <a:off x="-29901" y="2446824"/>
            <a:ext cx="2129742" cy="11568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得到图像，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指令脉冲和实际位置图像重合，验证程序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E2D130E8-CCF3-437E-92A3-B72A7D5A67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6816" y="-96007"/>
            <a:ext cx="3743325" cy="2428875"/>
          </a:xfrm>
          <a:prstGeom prst="rect">
            <a:avLst/>
          </a:prstGeom>
        </p:spPr>
      </p:pic>
      <p:sp>
        <p:nvSpPr>
          <p:cNvPr id="12" name="椭圆 11">
            <a:extLst>
              <a:ext uri="{FF2B5EF4-FFF2-40B4-BE49-F238E27FC236}">
                <a16:creationId xmlns:a16="http://schemas.microsoft.com/office/drawing/2014/main" id="{704E1999-9C27-41AE-8039-A3D77FCF950F}"/>
              </a:ext>
            </a:extLst>
          </p:cNvPr>
          <p:cNvSpPr/>
          <p:nvPr/>
        </p:nvSpPr>
        <p:spPr>
          <a:xfrm>
            <a:off x="3598762" y="2803192"/>
            <a:ext cx="983848" cy="797901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B66924F2-414D-46B0-93C8-C480759E5178}"/>
              </a:ext>
            </a:extLst>
          </p:cNvPr>
          <p:cNvCxnSpPr/>
          <p:nvPr/>
        </p:nvCxnSpPr>
        <p:spPr>
          <a:xfrm flipV="1">
            <a:off x="4119623" y="2050085"/>
            <a:ext cx="219919" cy="9751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86389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>
            <a:extLst>
              <a:ext uri="{FF2B5EF4-FFF2-40B4-BE49-F238E27FC236}">
                <a16:creationId xmlns:a16="http://schemas.microsoft.com/office/drawing/2014/main" id="{D4A386AA-15D9-4082-8309-414E04995A2C}"/>
              </a:ext>
            </a:extLst>
          </p:cNvPr>
          <p:cNvGrpSpPr/>
          <p:nvPr/>
        </p:nvGrpSpPr>
        <p:grpSpPr>
          <a:xfrm>
            <a:off x="3453354" y="2860256"/>
            <a:ext cx="6033722" cy="1231410"/>
            <a:chOff x="3453354" y="2860256"/>
            <a:chExt cx="6033722" cy="1231410"/>
          </a:xfrm>
        </p:grpSpPr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9D7CA54D-1782-406C-BD64-3BE0C25D18F9}"/>
                </a:ext>
              </a:extLst>
            </p:cNvPr>
            <p:cNvCxnSpPr>
              <a:cxnSpLocks/>
            </p:cNvCxnSpPr>
            <p:nvPr/>
          </p:nvCxnSpPr>
          <p:spPr>
            <a:xfrm>
              <a:off x="3453355" y="3469118"/>
              <a:ext cx="561828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060C1F8E-AF18-4B43-B7DB-9A29CB04A01B}"/>
                </a:ext>
              </a:extLst>
            </p:cNvPr>
            <p:cNvSpPr txBox="1"/>
            <p:nvPr/>
          </p:nvSpPr>
          <p:spPr>
            <a:xfrm>
              <a:off x="3453354" y="2860256"/>
              <a:ext cx="603372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dirty="0">
                  <a:solidFill>
                    <a:srgbClr val="005EB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JOG/HOME </a:t>
              </a:r>
              <a:r>
                <a:rPr lang="zh-CN" altLang="en-US" sz="2400" b="1" dirty="0">
                  <a:solidFill>
                    <a:srgbClr val="005EB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速度曲线</a:t>
              </a: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922E7396-891D-46E9-AD7A-26BE1DFEA584}"/>
                </a:ext>
              </a:extLst>
            </p:cNvPr>
            <p:cNvSpPr txBox="1"/>
            <p:nvPr/>
          </p:nvSpPr>
          <p:spPr>
            <a:xfrm>
              <a:off x="3537175" y="3814667"/>
              <a:ext cx="279595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2019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年</a:t>
              </a: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7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月</a:t>
              </a: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17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日</a:t>
              </a:r>
            </a:p>
          </p:txBody>
        </p: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AD12738B-7907-4FB7-B198-3EA112D47708}"/>
              </a:ext>
            </a:extLst>
          </p:cNvPr>
          <p:cNvGrpSpPr/>
          <p:nvPr/>
        </p:nvGrpSpPr>
        <p:grpSpPr>
          <a:xfrm>
            <a:off x="-1" y="-1"/>
            <a:ext cx="3456022" cy="6857993"/>
            <a:chOff x="0" y="0"/>
            <a:chExt cx="3202389" cy="6858000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70FB4EB8-A3FC-4DA8-A8E9-E22BA4CE702B}"/>
                </a:ext>
              </a:extLst>
            </p:cNvPr>
            <p:cNvSpPr/>
            <p:nvPr/>
          </p:nvSpPr>
          <p:spPr>
            <a:xfrm>
              <a:off x="0" y="0"/>
              <a:ext cx="2892669" cy="6858000"/>
            </a:xfrm>
            <a:prstGeom prst="rect">
              <a:avLst/>
            </a:prstGeom>
            <a:solidFill>
              <a:srgbClr val="005E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3000" b="1" dirty="0"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A1889530-54C1-4B95-AE94-7F56B75E1E9C}"/>
                </a:ext>
              </a:extLst>
            </p:cNvPr>
            <p:cNvSpPr txBox="1"/>
            <p:nvPr/>
          </p:nvSpPr>
          <p:spPr>
            <a:xfrm>
              <a:off x="724239" y="4930779"/>
              <a:ext cx="2048609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©</a:t>
              </a:r>
              <a:r>
                <a:rPr lang="zh-CN" altLang="en-US" b="1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数控小组</a:t>
              </a: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AABA9EF0-B3E2-4644-9D5E-1094910EEB79}"/>
                </a:ext>
              </a:extLst>
            </p:cNvPr>
            <p:cNvSpPr txBox="1"/>
            <p:nvPr/>
          </p:nvSpPr>
          <p:spPr>
            <a:xfrm>
              <a:off x="491428" y="2977484"/>
              <a:ext cx="2710961" cy="707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000" b="1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汕头大学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618590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7C49CA93-CFB7-43BA-8D84-837E5A72A975}"/>
              </a:ext>
            </a:extLst>
          </p:cNvPr>
          <p:cNvGrpSpPr/>
          <p:nvPr/>
        </p:nvGrpSpPr>
        <p:grpSpPr>
          <a:xfrm>
            <a:off x="-1" y="1816"/>
            <a:ext cx="9566032" cy="722642"/>
            <a:chOff x="0" y="-1"/>
            <a:chExt cx="12726863" cy="828676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922DEDEF-DB88-46DC-B6F2-6E8AAEC1E9D8}"/>
                </a:ext>
              </a:extLst>
            </p:cNvPr>
            <p:cNvSpPr/>
            <p:nvPr/>
          </p:nvSpPr>
          <p:spPr>
            <a:xfrm>
              <a:off x="114300" y="-1"/>
              <a:ext cx="12077700" cy="8286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66700" dist="38100" dir="2700000" sx="107000" sy="107000" algn="tl" rotWithShape="0">
                <a:prstClr val="black">
                  <a:alpha val="2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8610B1A1-9CF7-4B7C-949A-0C39678DC7EB}"/>
                </a:ext>
              </a:extLst>
            </p:cNvPr>
            <p:cNvSpPr/>
            <p:nvPr/>
          </p:nvSpPr>
          <p:spPr>
            <a:xfrm>
              <a:off x="0" y="114300"/>
              <a:ext cx="228600" cy="552450"/>
            </a:xfrm>
            <a:prstGeom prst="rect">
              <a:avLst/>
            </a:prstGeom>
            <a:ln>
              <a:solidFill>
                <a:srgbClr val="005E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388AA15E-9279-47EF-80C0-61DC1C9A4066}"/>
                </a:ext>
              </a:extLst>
            </p:cNvPr>
            <p:cNvSpPr txBox="1"/>
            <p:nvPr/>
          </p:nvSpPr>
          <p:spPr>
            <a:xfrm>
              <a:off x="10461378" y="0"/>
              <a:ext cx="1844921" cy="553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1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汕头大学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B0CF80DE-CD55-437B-B9A4-6A9968C0851D}"/>
                </a:ext>
              </a:extLst>
            </p:cNvPr>
            <p:cNvSpPr txBox="1"/>
            <p:nvPr/>
          </p:nvSpPr>
          <p:spPr>
            <a:xfrm>
              <a:off x="10678254" y="414336"/>
              <a:ext cx="20486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©</a:t>
              </a:r>
              <a:r>
                <a:rPr lang="zh-CN" altLang="en-US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数控小组</a:t>
              </a: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B4C27100-F0DF-4779-9DC7-6C949114BD1B}"/>
              </a:ext>
            </a:extLst>
          </p:cNvPr>
          <p:cNvSpPr txBox="1"/>
          <p:nvPr/>
        </p:nvSpPr>
        <p:spPr>
          <a:xfrm>
            <a:off x="314436" y="47119"/>
            <a:ext cx="60337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JOG/HOME S</a:t>
            </a:r>
            <a:r>
              <a:rPr lang="zh-CN" altLang="en-US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速度曲线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BBBC3F4-0E0E-47CF-BF61-65133FEE9114}"/>
              </a:ext>
            </a:extLst>
          </p:cNvPr>
          <p:cNvSpPr/>
          <p:nvPr/>
        </p:nvSpPr>
        <p:spPr>
          <a:xfrm>
            <a:off x="228600" y="1230726"/>
            <a:ext cx="398526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4ED7ACFB-249F-4B30-8D42-7979800C24EF}"/>
              </a:ext>
            </a:extLst>
          </p:cNvPr>
          <p:cNvGrpSpPr/>
          <p:nvPr/>
        </p:nvGrpSpPr>
        <p:grpSpPr>
          <a:xfrm>
            <a:off x="13966" y="2444674"/>
            <a:ext cx="5196254" cy="1631715"/>
            <a:chOff x="340258" y="1284256"/>
            <a:chExt cx="4092196" cy="1207694"/>
          </a:xfrm>
        </p:grpSpPr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D26A63E8-E1E3-49EB-970F-76E5145606CC}"/>
                </a:ext>
              </a:extLst>
            </p:cNvPr>
            <p:cNvSpPr txBox="1"/>
            <p:nvPr/>
          </p:nvSpPr>
          <p:spPr>
            <a:xfrm>
              <a:off x="352823" y="1626321"/>
              <a:ext cx="4079631" cy="8656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Ixx19 </a:t>
              </a:r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电机 </a:t>
              </a:r>
              <a:r>
                <a: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xx </a:t>
              </a:r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最大的</a:t>
              </a:r>
              <a:r>
                <a:rPr lang="zh-CN" altLang="en-US" sz="14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手动</a:t>
              </a:r>
              <a:r>
                <a:rPr lang="en-US" altLang="zh-CN" sz="14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/</a:t>
              </a:r>
              <a:r>
                <a:rPr lang="zh-CN" altLang="en-US" sz="14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回零</a:t>
              </a:r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加速度  单位：计数</a:t>
              </a:r>
              <a:r>
                <a: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/</a:t>
              </a:r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毫秒</a:t>
              </a:r>
              <a:r>
                <a: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^2</a:t>
              </a:r>
              <a:endPara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Ixx20 </a:t>
              </a:r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电机 </a:t>
              </a:r>
              <a:r>
                <a: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xx </a:t>
              </a:r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手动</a:t>
              </a:r>
              <a:r>
                <a: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/ </a:t>
              </a:r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回零加速时间        单位：毫秒</a:t>
              </a:r>
              <a:endPara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Ixx21 </a:t>
              </a:r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电机 </a:t>
              </a:r>
              <a:r>
                <a: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xx </a:t>
              </a:r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手动</a:t>
              </a:r>
              <a:r>
                <a: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/ </a:t>
              </a:r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回零 </a:t>
              </a:r>
              <a:r>
                <a: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S </a:t>
              </a:r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曲线时间    单位：毫米</a:t>
              </a:r>
              <a:endPara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Ixx22 </a:t>
              </a:r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电机 </a:t>
              </a:r>
              <a:r>
                <a: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xx </a:t>
              </a:r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手动速度                        单位：计数</a:t>
              </a:r>
              <a:r>
                <a: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/</a:t>
              </a:r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毫秒</a:t>
              </a:r>
              <a:endPara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Ixx23 </a:t>
              </a:r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电机 </a:t>
              </a:r>
              <a:r>
                <a: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xx </a:t>
              </a:r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回零速度和方向              单位：计数</a:t>
              </a:r>
              <a:r>
                <a: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/</a:t>
              </a:r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毫秒</a:t>
              </a:r>
              <a:endPara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E5AFCF40-45E4-4009-9184-76F8EF519A0C}"/>
                </a:ext>
              </a:extLst>
            </p:cNvPr>
            <p:cNvCxnSpPr/>
            <p:nvPr/>
          </p:nvCxnSpPr>
          <p:spPr>
            <a:xfrm>
              <a:off x="482287" y="1653588"/>
              <a:ext cx="3876705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4478D4E6-A6A3-40AE-BDB1-992407FCF99B}"/>
                </a:ext>
              </a:extLst>
            </p:cNvPr>
            <p:cNvSpPr/>
            <p:nvPr/>
          </p:nvSpPr>
          <p:spPr>
            <a:xfrm>
              <a:off x="340258" y="1284256"/>
              <a:ext cx="727183" cy="27335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b="1" dirty="0">
                  <a:solidFill>
                    <a:srgbClr val="005EB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</a:t>
              </a:r>
              <a:r>
                <a:rPr lang="zh-CN" altLang="en-US" b="1" dirty="0">
                  <a:solidFill>
                    <a:srgbClr val="005EB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变量</a:t>
              </a:r>
              <a:endParaRPr lang="zh-CN" altLang="en-US" dirty="0">
                <a:solidFill>
                  <a:srgbClr val="005EB8"/>
                </a:solidFill>
              </a:endParaRPr>
            </a:p>
          </p:txBody>
        </p:sp>
      </p:grpSp>
      <p:pic>
        <p:nvPicPr>
          <p:cNvPr id="8" name="图片 7">
            <a:extLst>
              <a:ext uri="{FF2B5EF4-FFF2-40B4-BE49-F238E27FC236}">
                <a16:creationId xmlns:a16="http://schemas.microsoft.com/office/drawing/2014/main" id="{62FC993A-D4BF-4CA8-9756-5687BC3391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6622" y="931658"/>
            <a:ext cx="3847035" cy="2224067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0216A313-2017-46F0-8AD5-465280218B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0220" y="3362925"/>
            <a:ext cx="3933780" cy="2142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17365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7C49CA93-CFB7-43BA-8D84-837E5A72A975}"/>
              </a:ext>
            </a:extLst>
          </p:cNvPr>
          <p:cNvGrpSpPr/>
          <p:nvPr/>
        </p:nvGrpSpPr>
        <p:grpSpPr>
          <a:xfrm>
            <a:off x="-1" y="1816"/>
            <a:ext cx="9566032" cy="722642"/>
            <a:chOff x="0" y="-1"/>
            <a:chExt cx="12726863" cy="828676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922DEDEF-DB88-46DC-B6F2-6E8AAEC1E9D8}"/>
                </a:ext>
              </a:extLst>
            </p:cNvPr>
            <p:cNvSpPr/>
            <p:nvPr/>
          </p:nvSpPr>
          <p:spPr>
            <a:xfrm>
              <a:off x="114300" y="-1"/>
              <a:ext cx="12077700" cy="8286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66700" dist="38100" dir="2700000" sx="107000" sy="107000" algn="tl" rotWithShape="0">
                <a:prstClr val="black">
                  <a:alpha val="2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 dirty="0"/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8610B1A1-9CF7-4B7C-949A-0C39678DC7EB}"/>
                </a:ext>
              </a:extLst>
            </p:cNvPr>
            <p:cNvSpPr/>
            <p:nvPr/>
          </p:nvSpPr>
          <p:spPr>
            <a:xfrm>
              <a:off x="0" y="114300"/>
              <a:ext cx="228600" cy="552450"/>
            </a:xfrm>
            <a:prstGeom prst="rect">
              <a:avLst/>
            </a:prstGeom>
            <a:ln>
              <a:solidFill>
                <a:srgbClr val="005E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388AA15E-9279-47EF-80C0-61DC1C9A4066}"/>
                </a:ext>
              </a:extLst>
            </p:cNvPr>
            <p:cNvSpPr txBox="1"/>
            <p:nvPr/>
          </p:nvSpPr>
          <p:spPr>
            <a:xfrm>
              <a:off x="10461378" y="0"/>
              <a:ext cx="1844921" cy="553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1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汕头大学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B0CF80DE-CD55-437B-B9A4-6A9968C0851D}"/>
                </a:ext>
              </a:extLst>
            </p:cNvPr>
            <p:cNvSpPr txBox="1"/>
            <p:nvPr/>
          </p:nvSpPr>
          <p:spPr>
            <a:xfrm>
              <a:off x="10678254" y="414336"/>
              <a:ext cx="20486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©</a:t>
              </a:r>
              <a:r>
                <a:rPr lang="zh-CN" altLang="en-US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数控小组</a:t>
              </a:r>
            </a:p>
          </p:txBody>
        </p:sp>
      </p:grpSp>
      <p:sp>
        <p:nvSpPr>
          <p:cNvPr id="4" name="矩形 3">
            <a:extLst>
              <a:ext uri="{FF2B5EF4-FFF2-40B4-BE49-F238E27FC236}">
                <a16:creationId xmlns:a16="http://schemas.microsoft.com/office/drawing/2014/main" id="{9BBBC3F4-0E0E-47CF-BF61-65133FEE9114}"/>
              </a:ext>
            </a:extLst>
          </p:cNvPr>
          <p:cNvSpPr/>
          <p:nvPr/>
        </p:nvSpPr>
        <p:spPr>
          <a:xfrm>
            <a:off x="228600" y="1230726"/>
            <a:ext cx="398526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A226149-39B4-4FEE-BC6E-0C9D66D4CA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0956" y="1421926"/>
            <a:ext cx="3113841" cy="1701377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464A5252-3126-4C06-822E-15D43F9F62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0449" y="3478171"/>
            <a:ext cx="4494853" cy="3332710"/>
          </a:xfrm>
          <a:prstGeom prst="rect">
            <a:avLst/>
          </a:prstGeom>
        </p:spPr>
      </p:pic>
      <p:grpSp>
        <p:nvGrpSpPr>
          <p:cNvPr id="22" name="组合 21">
            <a:extLst>
              <a:ext uri="{FF2B5EF4-FFF2-40B4-BE49-F238E27FC236}">
                <a16:creationId xmlns:a16="http://schemas.microsoft.com/office/drawing/2014/main" id="{B9B551EC-DEF9-4231-B75F-062DD5A341A4}"/>
              </a:ext>
            </a:extLst>
          </p:cNvPr>
          <p:cNvGrpSpPr/>
          <p:nvPr/>
        </p:nvGrpSpPr>
        <p:grpSpPr>
          <a:xfrm>
            <a:off x="-1" y="3340072"/>
            <a:ext cx="3993401" cy="997993"/>
            <a:chOff x="69736" y="1305716"/>
            <a:chExt cx="4535939" cy="738653"/>
          </a:xfrm>
        </p:grpSpPr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931915CE-A51D-4B05-A67E-454DA5B7118D}"/>
                </a:ext>
              </a:extLst>
            </p:cNvPr>
            <p:cNvSpPr txBox="1"/>
            <p:nvPr/>
          </p:nvSpPr>
          <p:spPr>
            <a:xfrm>
              <a:off x="437843" y="1793792"/>
              <a:ext cx="4079631" cy="2505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I</a:t>
              </a: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变量值如下：           对应</a:t>
              </a:r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JOG</a:t>
              </a: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图：</a:t>
              </a:r>
              <a:endPara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471C6B8C-6B8C-4DBC-A106-B335F352798C}"/>
                </a:ext>
              </a:extLst>
            </p:cNvPr>
            <p:cNvCxnSpPr/>
            <p:nvPr/>
          </p:nvCxnSpPr>
          <p:spPr>
            <a:xfrm>
              <a:off x="482287" y="1653588"/>
              <a:ext cx="3876705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A1E1CAB9-34E1-458D-9490-C0FADE649C40}"/>
                </a:ext>
              </a:extLst>
            </p:cNvPr>
            <p:cNvSpPr/>
            <p:nvPr/>
          </p:nvSpPr>
          <p:spPr>
            <a:xfrm>
              <a:off x="69736" y="1305716"/>
              <a:ext cx="4535939" cy="27335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b="1" dirty="0">
                  <a:solidFill>
                    <a:srgbClr val="005EB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一次</a:t>
              </a:r>
              <a:r>
                <a:rPr lang="en-US" altLang="zh-CN" b="1" dirty="0">
                  <a:solidFill>
                    <a:srgbClr val="005EB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#1J^100000 </a:t>
              </a:r>
              <a:r>
                <a:rPr lang="zh-CN" altLang="en-US" b="1" dirty="0">
                  <a:solidFill>
                    <a:srgbClr val="005EB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位置与速度曲线图</a:t>
              </a:r>
              <a:endParaRPr lang="zh-CN" altLang="en-US" dirty="0">
                <a:solidFill>
                  <a:srgbClr val="005EB8"/>
                </a:solidFill>
              </a:endParaRPr>
            </a:p>
          </p:txBody>
        </p:sp>
      </p:grpSp>
      <p:pic>
        <p:nvPicPr>
          <p:cNvPr id="13" name="图片 12">
            <a:extLst>
              <a:ext uri="{FF2B5EF4-FFF2-40B4-BE49-F238E27FC236}">
                <a16:creationId xmlns:a16="http://schemas.microsoft.com/office/drawing/2014/main" id="{69AC745F-590A-493B-BE9C-AECC58748F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4657167"/>
            <a:ext cx="2420810" cy="1130889"/>
          </a:xfrm>
          <a:prstGeom prst="rect">
            <a:avLst/>
          </a:prstGeom>
        </p:spPr>
      </p:pic>
      <p:grpSp>
        <p:nvGrpSpPr>
          <p:cNvPr id="29" name="组合 28">
            <a:extLst>
              <a:ext uri="{FF2B5EF4-FFF2-40B4-BE49-F238E27FC236}">
                <a16:creationId xmlns:a16="http://schemas.microsoft.com/office/drawing/2014/main" id="{72766D73-F665-4743-B0F3-A2AEA0E5F083}"/>
              </a:ext>
            </a:extLst>
          </p:cNvPr>
          <p:cNvGrpSpPr/>
          <p:nvPr/>
        </p:nvGrpSpPr>
        <p:grpSpPr>
          <a:xfrm>
            <a:off x="171824" y="768868"/>
            <a:ext cx="5196254" cy="2188214"/>
            <a:chOff x="340258" y="1284256"/>
            <a:chExt cx="4092196" cy="1619580"/>
          </a:xfrm>
        </p:grpSpPr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C6335F47-EDFD-4D22-A957-F8AD964D2A4C}"/>
                </a:ext>
              </a:extLst>
            </p:cNvPr>
            <p:cNvSpPr txBox="1"/>
            <p:nvPr/>
          </p:nvSpPr>
          <p:spPr>
            <a:xfrm>
              <a:off x="352823" y="1626321"/>
              <a:ext cx="4079631" cy="12775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200" dirty="0"/>
                <a:t>Ixx20（加速时间）</a:t>
              </a:r>
              <a:r>
                <a:rPr lang="en-US" altLang="zh-CN" sz="1200" dirty="0"/>
                <a:t>= </a:t>
              </a:r>
              <a:r>
                <a:rPr lang="zh-CN" altLang="en-US" sz="1200" dirty="0"/>
                <a:t>100ms</a:t>
              </a:r>
              <a:endParaRPr lang="en-US" altLang="zh-CN" sz="1200" dirty="0"/>
            </a:p>
            <a:p>
              <a:pPr>
                <a:lnSpc>
                  <a:spcPct val="150000"/>
                </a:lnSpc>
              </a:pPr>
              <a:r>
                <a:rPr lang="zh-CN" altLang="en-US" sz="1200" dirty="0"/>
                <a:t>Ixx21（S 曲线时间）</a:t>
              </a:r>
              <a:r>
                <a:rPr lang="en-US" altLang="zh-CN" sz="1200" dirty="0"/>
                <a:t>=</a:t>
              </a:r>
              <a:r>
                <a:rPr lang="zh-CN" altLang="en-US" sz="1200" dirty="0"/>
                <a:t> 0</a:t>
              </a:r>
              <a:r>
                <a:rPr lang="en-US" altLang="zh-CN" sz="1200" dirty="0" err="1"/>
                <a:t>ms</a:t>
              </a:r>
              <a:endParaRPr lang="en-US" altLang="zh-CN" sz="1200" dirty="0"/>
            </a:p>
            <a:p>
              <a:pPr>
                <a:lnSpc>
                  <a:spcPct val="150000"/>
                </a:lnSpc>
              </a:pPr>
              <a:r>
                <a:rPr lang="zh-CN" altLang="en-US" sz="1200" dirty="0"/>
                <a:t>Ixx22（</a:t>
              </a:r>
              <a:r>
                <a:rPr lang="en-US" altLang="zh-CN" sz="1200" dirty="0"/>
                <a:t>JOG</a:t>
              </a:r>
              <a:r>
                <a:rPr lang="zh-CN" altLang="en-US" sz="1200" dirty="0"/>
                <a:t>速度）</a:t>
              </a:r>
              <a:r>
                <a:rPr lang="en-US" altLang="zh-CN" sz="1200" dirty="0"/>
                <a:t>= </a:t>
              </a:r>
              <a:r>
                <a:rPr lang="zh-CN" altLang="en-US" sz="1200" dirty="0"/>
                <a:t>50 </a:t>
              </a:r>
              <a:r>
                <a:rPr lang="en-US" altLang="zh-CN" sz="1200" dirty="0"/>
                <a:t>counts</a:t>
              </a:r>
              <a:r>
                <a:rPr lang="zh-CN" altLang="en-US" sz="1200" dirty="0"/>
                <a:t>/ms</a:t>
              </a:r>
              <a:endParaRPr lang="en-US" altLang="zh-CN" sz="1200" dirty="0"/>
            </a:p>
            <a:p>
              <a:pPr>
                <a:lnSpc>
                  <a:spcPct val="150000"/>
                </a:lnSpc>
              </a:pPr>
              <a:r>
                <a:rPr lang="en-US" altLang="zh-CN" sz="1200" dirty="0"/>
                <a:t>Ixx19 </a:t>
              </a:r>
              <a:r>
                <a:rPr lang="zh-CN" altLang="en-US" sz="1200" dirty="0"/>
                <a:t>（电机 </a:t>
              </a:r>
              <a:r>
                <a:rPr lang="en-US" altLang="zh-CN" sz="1200" dirty="0"/>
                <a:t>xx </a:t>
              </a:r>
              <a:r>
                <a:rPr lang="zh-CN" altLang="en-US" sz="1200" dirty="0"/>
                <a:t>最大的手动</a:t>
              </a:r>
              <a:r>
                <a:rPr lang="en-US" altLang="zh-CN" sz="1200" dirty="0"/>
                <a:t>/</a:t>
              </a:r>
              <a:r>
                <a:rPr lang="zh-CN" altLang="en-US" sz="1200" dirty="0"/>
                <a:t>回零加速度） </a:t>
              </a:r>
              <a:r>
                <a:rPr lang="en-US" altLang="zh-CN" sz="1200" dirty="0"/>
                <a:t>= 0.25 </a:t>
              </a:r>
              <a:r>
                <a:rPr lang="zh-CN" altLang="en-US" sz="1200" dirty="0"/>
                <a:t>cts/ms</a:t>
              </a:r>
              <a:r>
                <a:rPr lang="en-US" altLang="zh-CN" sz="1200" dirty="0"/>
                <a:t>^</a:t>
              </a:r>
              <a:r>
                <a:rPr lang="zh-CN" altLang="en-US" sz="1200" dirty="0"/>
                <a:t>2 </a:t>
              </a:r>
              <a:endParaRPr lang="en-US" altLang="zh-CN" sz="1200" dirty="0"/>
            </a:p>
            <a:p>
              <a:pPr>
                <a:lnSpc>
                  <a:spcPct val="150000"/>
                </a:lnSpc>
              </a:pPr>
              <a:r>
                <a:rPr lang="zh-CN" altLang="en-US" sz="1200" dirty="0"/>
                <a:t>那么手动命令需要的加速度为（50cst/ms）/100ms </a:t>
              </a:r>
              <a:r>
                <a:rPr lang="en-US" altLang="zh-CN" sz="1200" dirty="0"/>
                <a:t>=</a:t>
              </a:r>
              <a:r>
                <a:rPr lang="zh-CN" altLang="en-US" sz="1200" dirty="0"/>
                <a:t> 0.5cts/ms</a:t>
              </a:r>
              <a:r>
                <a:rPr lang="en-US" altLang="zh-CN" sz="1200" dirty="0"/>
                <a:t>^</a:t>
              </a:r>
              <a:r>
                <a:rPr lang="zh-CN" altLang="en-US" sz="1200" dirty="0"/>
                <a:t>2 。</a:t>
              </a:r>
              <a:endParaRPr lang="en-US" altLang="zh-CN" sz="1200" dirty="0"/>
            </a:p>
            <a:p>
              <a:pPr>
                <a:lnSpc>
                  <a:spcPct val="150000"/>
                </a:lnSpc>
              </a:pPr>
              <a:r>
                <a:rPr lang="zh-CN" altLang="en-US" sz="1200" dirty="0"/>
                <a:t>由于 Ixx19 为 0.25，加速时间将会为 300ms 而非 100ms。</a:t>
              </a:r>
              <a:endParaRPr lang="en-US" altLang="zh-CN" sz="1200" dirty="0"/>
            </a:p>
          </p:txBody>
        </p: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26889D0F-FE5D-4974-AD9D-380D4ABF48D7}"/>
                </a:ext>
              </a:extLst>
            </p:cNvPr>
            <p:cNvCxnSpPr/>
            <p:nvPr/>
          </p:nvCxnSpPr>
          <p:spPr>
            <a:xfrm>
              <a:off x="482287" y="1653588"/>
              <a:ext cx="3876705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4EE0F3AA-F9B6-4A35-B6AA-E39BA8CBA65C}"/>
                </a:ext>
              </a:extLst>
            </p:cNvPr>
            <p:cNvSpPr/>
            <p:nvPr/>
          </p:nvSpPr>
          <p:spPr>
            <a:xfrm>
              <a:off x="340258" y="1284256"/>
              <a:ext cx="1236151" cy="27335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b="1" dirty="0">
                  <a:solidFill>
                    <a:srgbClr val="005EB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直线加速例子</a:t>
              </a:r>
              <a:endParaRPr lang="zh-CN" altLang="en-US" dirty="0">
                <a:solidFill>
                  <a:srgbClr val="005EB8"/>
                </a:solidFill>
              </a:endParaRPr>
            </a:p>
          </p:txBody>
        </p:sp>
      </p:grpSp>
      <p:sp>
        <p:nvSpPr>
          <p:cNvPr id="34" name="文本框 33">
            <a:extLst>
              <a:ext uri="{FF2B5EF4-FFF2-40B4-BE49-F238E27FC236}">
                <a16:creationId xmlns:a16="http://schemas.microsoft.com/office/drawing/2014/main" id="{31EE5004-13D9-452D-9292-5D7C888D4E34}"/>
              </a:ext>
            </a:extLst>
          </p:cNvPr>
          <p:cNvSpPr txBox="1"/>
          <p:nvPr/>
        </p:nvSpPr>
        <p:spPr>
          <a:xfrm>
            <a:off x="314436" y="47119"/>
            <a:ext cx="60337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例子</a:t>
            </a:r>
          </a:p>
        </p:txBody>
      </p:sp>
    </p:spTree>
    <p:extLst>
      <p:ext uri="{BB962C8B-B14F-4D97-AF65-F5344CB8AC3E}">
        <p14:creationId xmlns:p14="http://schemas.microsoft.com/office/powerpoint/2010/main" val="16038583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7C49CA93-CFB7-43BA-8D84-837E5A72A975}"/>
              </a:ext>
            </a:extLst>
          </p:cNvPr>
          <p:cNvGrpSpPr/>
          <p:nvPr/>
        </p:nvGrpSpPr>
        <p:grpSpPr>
          <a:xfrm>
            <a:off x="0" y="1816"/>
            <a:ext cx="9592408" cy="722642"/>
            <a:chOff x="0" y="-1"/>
            <a:chExt cx="12726863" cy="828676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922DEDEF-DB88-46DC-B6F2-6E8AAEC1E9D8}"/>
                </a:ext>
              </a:extLst>
            </p:cNvPr>
            <p:cNvSpPr/>
            <p:nvPr/>
          </p:nvSpPr>
          <p:spPr>
            <a:xfrm>
              <a:off x="114300" y="-1"/>
              <a:ext cx="12077700" cy="8286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66700" dist="38100" dir="2700000" sx="107000" sy="107000" algn="tl" rotWithShape="0">
                <a:prstClr val="black">
                  <a:alpha val="2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8610B1A1-9CF7-4B7C-949A-0C39678DC7EB}"/>
                </a:ext>
              </a:extLst>
            </p:cNvPr>
            <p:cNvSpPr/>
            <p:nvPr/>
          </p:nvSpPr>
          <p:spPr>
            <a:xfrm>
              <a:off x="0" y="114300"/>
              <a:ext cx="228600" cy="552450"/>
            </a:xfrm>
            <a:prstGeom prst="rect">
              <a:avLst/>
            </a:prstGeom>
            <a:ln>
              <a:solidFill>
                <a:srgbClr val="005E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388AA15E-9279-47EF-80C0-61DC1C9A4066}"/>
                </a:ext>
              </a:extLst>
            </p:cNvPr>
            <p:cNvSpPr txBox="1"/>
            <p:nvPr/>
          </p:nvSpPr>
          <p:spPr>
            <a:xfrm>
              <a:off x="10461378" y="0"/>
              <a:ext cx="1844921" cy="553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1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汕头大学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B0CF80DE-CD55-437B-B9A4-6A9968C0851D}"/>
                </a:ext>
              </a:extLst>
            </p:cNvPr>
            <p:cNvSpPr txBox="1"/>
            <p:nvPr/>
          </p:nvSpPr>
          <p:spPr>
            <a:xfrm>
              <a:off x="10678254" y="414336"/>
              <a:ext cx="20486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©</a:t>
              </a:r>
              <a:r>
                <a:rPr lang="zh-CN" altLang="en-US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数控小组</a:t>
              </a: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B4C27100-F0DF-4779-9DC7-6C949114BD1B}"/>
              </a:ext>
            </a:extLst>
          </p:cNvPr>
          <p:cNvSpPr txBox="1"/>
          <p:nvPr/>
        </p:nvSpPr>
        <p:spPr>
          <a:xfrm>
            <a:off x="426407" y="101526"/>
            <a:ext cx="60337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对应官方资料</a:t>
            </a: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CC42EA0D-298C-4DB4-B08D-2A7B75A0FC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8715327"/>
              </p:ext>
            </p:extLst>
          </p:nvPr>
        </p:nvGraphicFramePr>
        <p:xfrm>
          <a:off x="441630" y="1580876"/>
          <a:ext cx="8392161" cy="14569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2400">
                  <a:extLst>
                    <a:ext uri="{9D8B030D-6E8A-4147-A177-3AD203B41FA5}">
                      <a16:colId xmlns:a16="http://schemas.microsoft.com/office/drawing/2014/main" val="3154022711"/>
                    </a:ext>
                  </a:extLst>
                </a:gridCol>
                <a:gridCol w="3083890">
                  <a:extLst>
                    <a:ext uri="{9D8B030D-6E8A-4147-A177-3AD203B41FA5}">
                      <a16:colId xmlns:a16="http://schemas.microsoft.com/office/drawing/2014/main" val="843843597"/>
                    </a:ext>
                  </a:extLst>
                </a:gridCol>
                <a:gridCol w="1345871">
                  <a:extLst>
                    <a:ext uri="{9D8B030D-6E8A-4147-A177-3AD203B41FA5}">
                      <a16:colId xmlns:a16="http://schemas.microsoft.com/office/drawing/2014/main" val="1525104641"/>
                    </a:ext>
                  </a:extLst>
                </a:gridCol>
              </a:tblGrid>
              <a:tr h="388523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PDF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/>
                        <a:t>标题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/>
                        <a:t>起始页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6169899"/>
                  </a:ext>
                </a:extLst>
              </a:tr>
              <a:tr h="679916">
                <a:tc>
                  <a:txBody>
                    <a:bodyPr/>
                    <a:lstStyle/>
                    <a:p>
                      <a:r>
                        <a:rPr lang="pt-BR" altLang="zh-CN" dirty="0"/>
                        <a:t>TURBO PMAC USER MANUAL </a:t>
                      </a:r>
                      <a:r>
                        <a:rPr lang="zh-CN" altLang="pt-BR" dirty="0"/>
                        <a:t>（中文版）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输入 一个运动程序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368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820502"/>
                  </a:ext>
                </a:extLst>
              </a:tr>
              <a:tr h="388523">
                <a:tc>
                  <a:txBody>
                    <a:bodyPr/>
                    <a:lstStyle/>
                    <a:p>
                      <a:r>
                        <a:rPr lang="en-US" altLang="zh-CN" dirty="0"/>
                        <a:t>PMAC </a:t>
                      </a:r>
                      <a:r>
                        <a:rPr lang="zh-CN" altLang="en-US" dirty="0"/>
                        <a:t>技术培训（初级）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一个简单的数据采集的例程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最后几页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60774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520406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655</TotalTime>
  <Words>655</Words>
  <Application>Microsoft Office PowerPoint</Application>
  <PresentationFormat>全屏显示(4:3)</PresentationFormat>
  <Paragraphs>118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9" baseType="lpstr">
      <vt:lpstr>隶书</vt:lpstr>
      <vt:lpstr>微软雅黑</vt:lpstr>
      <vt:lpstr>Arial</vt:lpstr>
      <vt:lpstr>Calibri</vt:lpstr>
      <vt:lpstr>Calibri Light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伍绍森</dc:creator>
  <cp:lastModifiedBy>Shaosen Wu</cp:lastModifiedBy>
  <cp:revision>39</cp:revision>
  <dcterms:created xsi:type="dcterms:W3CDTF">2019-07-16T11:12:01Z</dcterms:created>
  <dcterms:modified xsi:type="dcterms:W3CDTF">2019-07-22T07:33:02Z</dcterms:modified>
</cp:coreProperties>
</file>