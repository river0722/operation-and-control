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2" r:id="rId3"/>
    <p:sldId id="283" r:id="rId4"/>
    <p:sldId id="274" r:id="rId5"/>
    <p:sldId id="284" r:id="rId6"/>
    <p:sldId id="289" r:id="rId7"/>
    <p:sldId id="290" r:id="rId8"/>
    <p:sldId id="299" r:id="rId9"/>
    <p:sldId id="296" r:id="rId10"/>
    <p:sldId id="300" r:id="rId11"/>
    <p:sldId id="291" r:id="rId12"/>
    <p:sldId id="261" r:id="rId13"/>
    <p:sldId id="285" r:id="rId14"/>
    <p:sldId id="288" r:id="rId15"/>
    <p:sldId id="286" r:id="rId16"/>
    <p:sldId id="28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7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88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7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0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47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31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52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1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9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365BF-9101-4349-AFAE-A0D0DEF6FBAF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9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Turbo PMAC 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让电机回零</a:t>
              </a:r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回零步骤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0C7E0A-D2DC-4B66-A1E4-A8B9B7D2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42" y="969689"/>
            <a:ext cx="4138928" cy="2626453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F77FA582-F75B-417A-A814-EA64E05B41D7}"/>
              </a:ext>
            </a:extLst>
          </p:cNvPr>
          <p:cNvGrpSpPr/>
          <p:nvPr/>
        </p:nvGrpSpPr>
        <p:grpSpPr>
          <a:xfrm>
            <a:off x="277256" y="1385440"/>
            <a:ext cx="4990431" cy="4087120"/>
            <a:chOff x="340258" y="1284256"/>
            <a:chExt cx="4120198" cy="405402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359B8FE-F686-450C-8442-7F392971B405}"/>
                </a:ext>
              </a:extLst>
            </p:cNvPr>
            <p:cNvSpPr txBox="1"/>
            <p:nvPr/>
          </p:nvSpPr>
          <p:spPr>
            <a:xfrm>
              <a:off x="380825" y="1626405"/>
              <a:ext cx="4079631" cy="3711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：工作台处于正限位和零位之间</a:t>
              </a:r>
              <a:endParaRPr lang="en-US" altLang="zh-CN" sz="16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往负限位走，检测零位标志直接回零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：电机台处于零位和负限位之间</a:t>
              </a:r>
              <a:endParaRPr lang="en-US" altLang="zh-CN" sz="16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往负限位走，检测到负限位标志后往正限位走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一段偏置距离，偏置距离须超过零位，变成了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，再同样往负限位走，检测零位标志直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接回零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45BC038-5803-4402-B260-5A19001CE22B}"/>
                </a:ext>
              </a:extLst>
            </p:cNvPr>
            <p:cNvSpPr/>
            <p:nvPr/>
          </p:nvSpPr>
          <p:spPr>
            <a:xfrm>
              <a:off x="340258" y="1284256"/>
              <a:ext cx="152518" cy="3663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86D6BD63-4730-48EF-8765-31FA9F2190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16"/>
          <a:stretch/>
        </p:blipFill>
        <p:spPr>
          <a:xfrm>
            <a:off x="5439914" y="3835673"/>
            <a:ext cx="3657600" cy="266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8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程序编程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8E938C7-B49A-4388-BD23-2898BAE0C8EB}"/>
              </a:ext>
            </a:extLst>
          </p:cNvPr>
          <p:cNvGrpSpPr/>
          <p:nvPr/>
        </p:nvGrpSpPr>
        <p:grpSpPr>
          <a:xfrm>
            <a:off x="512927" y="3203845"/>
            <a:ext cx="8571250" cy="1498920"/>
            <a:chOff x="340258" y="1284256"/>
            <a:chExt cx="4092196" cy="149892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B0E8CB8-F5F6-45CB-94A3-844502A7625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M120-&gt;X:$078000,16 ; /*HOME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限位标志，常高电平*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M121-&gt;X:$078000,17 ; /*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正限位标志，常低电平*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M122-&gt;X:$078000,18 ; /*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负限位标志，常低电平*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6C3EFB7-25C0-4B7A-9FDF-079CA0F5846B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490CCD9-04E5-4DEC-A1EA-FCFC02CCC8E6}"/>
                </a:ext>
              </a:extLst>
            </p:cNvPr>
            <p:cNvSpPr/>
            <p:nvPr/>
          </p:nvSpPr>
          <p:spPr>
            <a:xfrm>
              <a:off x="340258" y="1284256"/>
              <a:ext cx="25969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  映射到端口，反映限位开关电平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03D737-82F3-483F-961D-B298C2FD15D4}"/>
              </a:ext>
            </a:extLst>
          </p:cNvPr>
          <p:cNvGrpSpPr/>
          <p:nvPr/>
        </p:nvGrpSpPr>
        <p:grpSpPr>
          <a:xfrm>
            <a:off x="521718" y="1110183"/>
            <a:ext cx="6701937" cy="1867483"/>
            <a:chOff x="340258" y="1284256"/>
            <a:chExt cx="4092196" cy="18674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F1D6106-31A6-4B4B-9E98-A13D37E12849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525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PLC 0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程序使能命令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0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使能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PLC 0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程序关闭命令：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DISABLE PLC 0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关闭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走偏置距离指令：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COMMAND"#1J^200000" //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开启寻找零点运动：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COMMAND"#1HOME"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3AB7DC1-8B6B-489C-BE18-AD8BF1A07ED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752534-B936-409F-8FC8-0A1C620EE16D}"/>
                </a:ext>
              </a:extLst>
            </p:cNvPr>
            <p:cNvSpPr/>
            <p:nvPr/>
          </p:nvSpPr>
          <p:spPr>
            <a:xfrm>
              <a:off x="340258" y="1284256"/>
              <a:ext cx="6765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指令语法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32E261B-2429-4D8D-BB12-781B2D7273A1}"/>
              </a:ext>
            </a:extLst>
          </p:cNvPr>
          <p:cNvGrpSpPr/>
          <p:nvPr/>
        </p:nvGrpSpPr>
        <p:grpSpPr>
          <a:xfrm>
            <a:off x="539245" y="5054560"/>
            <a:ext cx="6690150" cy="1735625"/>
            <a:chOff x="340258" y="1284256"/>
            <a:chExt cx="4084999" cy="1735625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5AACDAC-7975-4214-BCC9-847E2F330504}"/>
                </a:ext>
              </a:extLst>
            </p:cNvPr>
            <p:cNvSpPr txBox="1"/>
            <p:nvPr/>
          </p:nvSpPr>
          <p:spPr>
            <a:xfrm>
              <a:off x="345626" y="1696442"/>
              <a:ext cx="407963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I113=0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软正限位置零</a:t>
              </a: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I114=0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软负限位置零</a:t>
              </a: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I122=32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手动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Jog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I123=-1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回零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搜索速度和方向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I7012=15   //0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号编码器（即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号电机）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号通道信号捕捉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28DC4C5-C4E6-4EC8-AFC9-E3A90C50CA41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7CF5F48-5425-4CD5-904E-E380090B044D}"/>
                </a:ext>
              </a:extLst>
            </p:cNvPr>
            <p:cNvSpPr/>
            <p:nvPr/>
          </p:nvSpPr>
          <p:spPr>
            <a:xfrm>
              <a:off x="340258" y="1284256"/>
              <a:ext cx="4416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97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 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3934289" y="-297136"/>
            <a:ext cx="6462344" cy="6776611"/>
            <a:chOff x="4954157" y="912393"/>
            <a:chExt cx="5034491" cy="654567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4079631" cy="6109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PLC 1 CLEAR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IF(P801=1)//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向左走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I114=0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I122=20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COMMAND"#1J-"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P801=2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ELSE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IF(P801=2)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IF(M120=0)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home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标志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COMMAND"#1J/"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P801=3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IF(M122=1)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到达负限位往正走偏置量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P801=-1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COMMAND"#1J^200000"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最小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1600000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IF(P801=-1)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在负限位和零点时动作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IF(M133=1)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若到位信息为零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是否走往偏执量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IF(P801=3)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I123=-1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I7012=15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COMMAND"#1HOME"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P801=4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IF(P801=4)AND(M211&lt;4000)AND(M211&gt;-4000)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P801=5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IF(P801=5)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COMMAND"#1HOMEZ"//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设为原点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P801=6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完成回零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I113=884000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I114=-65000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A46B737-5C50-4C6E-91DB-ADB7F3B957BA}"/>
              </a:ext>
            </a:extLst>
          </p:cNvPr>
          <p:cNvGrpSpPr/>
          <p:nvPr/>
        </p:nvGrpSpPr>
        <p:grpSpPr>
          <a:xfrm>
            <a:off x="172299" y="4161691"/>
            <a:ext cx="3713201" cy="1630301"/>
            <a:chOff x="380825" y="3340306"/>
            <a:chExt cx="3713201" cy="163030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D9EEC67-7449-42BA-8638-B3DC41A46B2D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拷贝右边例程到程序中，点击下载按钮，查看面板提示下载状态，再新建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File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，拷贝下页例程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2BAF7D2-FE3D-4715-B704-D1B97163BD6D}"/>
                </a:ext>
              </a:extLst>
            </p:cNvPr>
            <p:cNvSpPr/>
            <p:nvPr/>
          </p:nvSpPr>
          <p:spPr>
            <a:xfrm>
              <a:off x="3372630" y="4533874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DF57EA2-07B3-4019-B20B-EB4B83B7C174}"/>
              </a:ext>
            </a:extLst>
          </p:cNvPr>
          <p:cNvGrpSpPr/>
          <p:nvPr/>
        </p:nvGrpSpPr>
        <p:grpSpPr>
          <a:xfrm>
            <a:off x="106101" y="1440650"/>
            <a:ext cx="3602735" cy="1988350"/>
            <a:chOff x="340258" y="1284256"/>
            <a:chExt cx="4092196" cy="1471653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6BAAE3E-9B9E-49EE-9C75-88F263F95B2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12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M133-&gt;X:$0000B0,13,1 ;  /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#1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期望速度位零的状态位，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电机有速度时为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，停止为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用于检测走偏置距离是否完成。</a:t>
              </a:r>
              <a:endPara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3FC51F30-EDA9-4E06-ADEA-2915E3C8694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82D42AD-9A31-42B1-9FBC-7426E33CD223}"/>
                </a:ext>
              </a:extLst>
            </p:cNvPr>
            <p:cNvSpPr/>
            <p:nvPr/>
          </p:nvSpPr>
          <p:spPr>
            <a:xfrm>
              <a:off x="340258" y="1284256"/>
              <a:ext cx="12303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重要变量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322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使能运行 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 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225897" y="986065"/>
            <a:ext cx="3625529" cy="2067631"/>
            <a:chOff x="4954157" y="912393"/>
            <a:chExt cx="5220915" cy="199717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5125096" cy="15607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M120-&gt;X:$078000,16 ; /*HOME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限位标志，常高电平*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M121-&gt;X:$078000,17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M122-&gt;X:$078000,18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负限位标志，常低电平*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M114-&gt;X:$78005,14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上电机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M114=1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给定条件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I5=3 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开启前后台程序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使能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 0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0BF2885A-2AA0-4611-94F9-F2C472C9848E}"/>
              </a:ext>
            </a:extLst>
          </p:cNvPr>
          <p:cNvSpPr/>
          <p:nvPr/>
        </p:nvSpPr>
        <p:spPr>
          <a:xfrm>
            <a:off x="313881" y="5807392"/>
            <a:ext cx="846699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使能和开启后会处于循环运行状态，关闭使能通过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0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程序使能关闭命令：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DISABLE PLC 0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668C51-2D61-4E6B-B2F6-AF97B5523A1F}"/>
              </a:ext>
            </a:extLst>
          </p:cNvPr>
          <p:cNvGrpSpPr/>
          <p:nvPr/>
        </p:nvGrpSpPr>
        <p:grpSpPr>
          <a:xfrm>
            <a:off x="422031" y="1209027"/>
            <a:ext cx="3652731" cy="957326"/>
            <a:chOff x="380825" y="3340306"/>
            <a:chExt cx="3652731" cy="95732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EB0DF70-CB2B-4D7D-BFE8-551470AEC5C3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拷贝右边例程到程序中，点击下载按钮即可使能运行上页主程序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8FB6DBF-7253-47F1-AE97-5AA8EB55F209}"/>
                </a:ext>
              </a:extLst>
            </p:cNvPr>
            <p:cNvSpPr/>
            <p:nvPr/>
          </p:nvSpPr>
          <p:spPr>
            <a:xfrm>
              <a:off x="3312160" y="3860899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F9667ED-8E3E-46C0-97E5-3211247FB013}"/>
              </a:ext>
            </a:extLst>
          </p:cNvPr>
          <p:cNvGrpSpPr/>
          <p:nvPr/>
        </p:nvGrpSpPr>
        <p:grpSpPr>
          <a:xfrm>
            <a:off x="226138" y="2894030"/>
            <a:ext cx="6795221" cy="2629331"/>
            <a:chOff x="226138" y="2894030"/>
            <a:chExt cx="6795221" cy="26293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A23539A-27C9-4833-9D11-4D4B61B7A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42029" y="3807950"/>
              <a:ext cx="4191363" cy="1204064"/>
            </a:xfrm>
            <a:prstGeom prst="rect">
              <a:avLst/>
            </a:prstGeom>
          </p:spPr>
        </p:pic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6ECE092-4814-4649-98A9-A32F7C6715C1}"/>
                </a:ext>
              </a:extLst>
            </p:cNvPr>
            <p:cNvGrpSpPr/>
            <p:nvPr/>
          </p:nvGrpSpPr>
          <p:grpSpPr>
            <a:xfrm>
              <a:off x="226138" y="2894030"/>
              <a:ext cx="6747795" cy="1277218"/>
              <a:chOff x="340258" y="1284256"/>
              <a:chExt cx="4120197" cy="1277218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78700D5-9396-4047-9056-50849F929967}"/>
                  </a:ext>
                </a:extLst>
              </p:cNvPr>
              <p:cNvSpPr txBox="1"/>
              <p:nvPr/>
            </p:nvSpPr>
            <p:spPr>
              <a:xfrm>
                <a:off x="380824" y="1730477"/>
                <a:ext cx="40796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I5 控制哪个 PlC 程序该被置为有效。有两种类型的 PLC 程序：前台程序（PLC 0 和 PLCC 0）</a:t>
                </a:r>
                <a:endParaRPr lang="en-US" altLang="zh-CN" sz="1600" dirty="0"/>
              </a:p>
              <a:p>
                <a:endParaRPr lang="en-US" altLang="zh-CN" sz="1600" dirty="0"/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FF81EAD-BD4C-4D15-BF0A-E36638EAAF5B}"/>
                  </a:ext>
                </a:extLst>
              </p:cNvPr>
              <p:cNvCxnSpPr/>
              <p:nvPr/>
            </p:nvCxnSpPr>
            <p:spPr>
              <a:xfrm>
                <a:off x="482287" y="1653588"/>
                <a:ext cx="3876705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684BEA0-EDCB-49D8-AD51-A7FB055CFECD}"/>
                  </a:ext>
                </a:extLst>
              </p:cNvPr>
              <p:cNvSpPr/>
              <p:nvPr/>
            </p:nvSpPr>
            <p:spPr>
              <a:xfrm>
                <a:off x="340258" y="1284256"/>
                <a:ext cx="676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5EB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指令语法</a:t>
                </a:r>
                <a:endParaRPr lang="zh-CN" altLang="en-US" dirty="0">
                  <a:solidFill>
                    <a:srgbClr val="005EB8"/>
                  </a:solidFill>
                </a:endParaRPr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C3FF561-25D0-4731-8F40-96DE0557A439}"/>
                </a:ext>
              </a:extLst>
            </p:cNvPr>
            <p:cNvSpPr/>
            <p:nvPr/>
          </p:nvSpPr>
          <p:spPr>
            <a:xfrm>
              <a:off x="262419" y="5154029"/>
              <a:ext cx="67589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 0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程序使能命令：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0  //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使能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615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例程回零</a:t>
            </a:r>
            <a:r>
              <a:rPr lang="en-US" altLang="zh-CN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改动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3934289" y="-297136"/>
            <a:ext cx="6462344" cy="7053611"/>
            <a:chOff x="4954157" y="912393"/>
            <a:chExt cx="5034491" cy="68132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4079631" cy="63768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PLC 3 CLEAR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IF(P801=1)AND(M122=1)//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向左走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//801=1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左限位为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避免在负限位还往负走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I114=0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I122=32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COMMAND"#1J-"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P801=2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ELSE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IF(P801=2) 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IF(M120=0)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home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标志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COMMAND"#1J/"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P801=3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IF(M122=1)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到达负限位往正走偏置量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P801=-1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M172=200000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COMMAND"#1J^*"//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向正方向运动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200000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脉冲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P813=0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IF(P801=3)AND(M140=1) //P801=3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并且未处于零位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I123=-1 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设置回零运动方向为负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I7013=0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零点标志回零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I7012=15 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组合方式，当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I7012=15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代表的零点限位有低信号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COMMAND"#1HOME"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开启寻找零点运动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P801=4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IF(P801=4)AND(M162&lt;4000)AND(M162&gt;-4000)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电机位置在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4000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-4000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之间时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P801=5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IF(P801=5)AND(M117=1)   //1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号编码器捕捉信号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COMMAND"#1HOMEZ"//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将目前位置设置为零位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P801=6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I113=884000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软正限位置为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884000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I114=-65000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软正限位置为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-6500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IF(P801=-1)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在负限位和零点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IF(M140=0)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若到负限位信息为零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P813=3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IF(M140=1)AND(P813=3)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P801=1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回到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A46B737-5C50-4C6E-91DB-ADB7F3B957BA}"/>
              </a:ext>
            </a:extLst>
          </p:cNvPr>
          <p:cNvGrpSpPr/>
          <p:nvPr/>
        </p:nvGrpSpPr>
        <p:grpSpPr>
          <a:xfrm>
            <a:off x="172299" y="4390825"/>
            <a:ext cx="3713201" cy="1630301"/>
            <a:chOff x="380825" y="3340306"/>
            <a:chExt cx="3713201" cy="163030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D9EEC67-7449-42BA-8638-B3DC41A46B2D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拷贝右边例程到程序中，点击下载按钮，查看面板提示下载状态，再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新建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File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，拷贝下页例程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2BAF7D2-FE3D-4715-B704-D1B97163BD6D}"/>
                </a:ext>
              </a:extLst>
            </p:cNvPr>
            <p:cNvSpPr/>
            <p:nvPr/>
          </p:nvSpPr>
          <p:spPr>
            <a:xfrm>
              <a:off x="3372630" y="4533874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4C2886F-8909-452F-8848-015EEA77A80A}"/>
              </a:ext>
            </a:extLst>
          </p:cNvPr>
          <p:cNvGrpSpPr/>
          <p:nvPr/>
        </p:nvGrpSpPr>
        <p:grpSpPr>
          <a:xfrm>
            <a:off x="-62196" y="807186"/>
            <a:ext cx="4521934" cy="2253870"/>
            <a:chOff x="340258" y="1284256"/>
            <a:chExt cx="4092196" cy="2253870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7B34715-B963-4F07-8B32-51CECE64D983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911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M120-&gt;X:$078000,16 ; /*HOME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限位标志，常高电平*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M121-&gt;X:$078000,17 ; /*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正限位标志，常低电平*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M122-&gt;X:$078000,18 ; /*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负限位标志，常低电平*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</a:p>
            <a:p>
              <a:pPr>
                <a:lnSpc>
                  <a:spcPct val="150000"/>
                </a:lnSpc>
              </a:pP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M172-&gt;L:$0000D7 ; #1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变量手动位置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距离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s-E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M140-&gt;Y:$0000C0,0,1 ; #1 </a:t>
              </a:r>
              <a:r>
                <a:rPr lang="zh-CN" altLang="es-E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后台在位位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，运行时为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到位后为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M162-&gt;D:$00008B ; #1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实际位置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(1/[Ixx08*32] 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cts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M117-&gt;X:$078000,11 ; ENC1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捕捉标志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05A5619-B069-4761-812B-824E6953D6A9}"/>
                </a:ext>
              </a:extLst>
            </p:cNvPr>
            <p:cNvCxnSpPr/>
            <p:nvPr/>
          </p:nvCxnSpPr>
          <p:spPr>
            <a:xfrm>
              <a:off x="441851" y="1626321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C939046-10EE-4F26-9D3D-C9E55BFC2380}"/>
                </a:ext>
              </a:extLst>
            </p:cNvPr>
            <p:cNvSpPr/>
            <p:nvPr/>
          </p:nvSpPr>
          <p:spPr>
            <a:xfrm>
              <a:off x="340258" y="1284256"/>
              <a:ext cx="212115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变量指向预设值（推荐）</a:t>
              </a:r>
              <a:endParaRPr lang="zh-CN" altLang="en-US" sz="1400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220B105-9F7C-42BA-BF00-38E1F60FD367}"/>
              </a:ext>
            </a:extLst>
          </p:cNvPr>
          <p:cNvGrpSpPr/>
          <p:nvPr/>
        </p:nvGrpSpPr>
        <p:grpSpPr>
          <a:xfrm>
            <a:off x="-54620" y="3053657"/>
            <a:ext cx="4338823" cy="1188100"/>
            <a:chOff x="340258" y="1284256"/>
            <a:chExt cx="4092196" cy="1116810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0725D7D-9F89-499D-B98A-C64F10C6AEA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774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P801 =1 </a:t>
              </a:r>
              <a:r>
                <a:rPr lang="en-US" altLang="zh-CN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</a:t>
              </a:r>
              <a:r>
                <a:rPr lang="zh-CN" altLang="en-US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上位机发送开始运行回零程序变量（上位机传递变量）</a:t>
              </a:r>
              <a:endParaRPr lang="en-US" altLang="zh-CN" sz="11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回零后变成</a:t>
              </a:r>
              <a:r>
                <a:rPr lang="en-US" altLang="zh-CN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en-US" altLang="zh-CN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P813 =0 //</a:t>
              </a: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过程判断，判断是否为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ECE3295-D32F-4C3F-8CB0-3CE1B417D9D6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D328F9B-5AD6-45A3-BF6C-01E70B58834F}"/>
                </a:ext>
              </a:extLst>
            </p:cNvPr>
            <p:cNvSpPr/>
            <p:nvPr/>
          </p:nvSpPr>
          <p:spPr>
            <a:xfrm>
              <a:off x="340258" y="1284256"/>
              <a:ext cx="146380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zh-CN" altLang="en-US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 用户全局</a:t>
              </a:r>
              <a:endParaRPr lang="zh-CN" altLang="en-US" sz="1400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362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使能运行主程序 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225897" y="986066"/>
            <a:ext cx="3811423" cy="3281134"/>
            <a:chOff x="4954157" y="912393"/>
            <a:chExt cx="5220915" cy="33052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5125096" cy="28688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M120-&gt;X:$078000,16 ; /*HOME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限位标志，常高电平*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M121-&gt;X:$078000,17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M122-&gt;X:$078000,18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负限位标志，常低电平*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M172-&gt;L:$0000D7 ; #1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变量手动位置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距离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计数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M140-&gt;Y:$0000C0,0,1 ; #1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后台在位位，运行时为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Jog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到位后为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M162-&gt;D:$00008B ; #1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实际位置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(1/[Ixx08*32] </a:t>
              </a:r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M117-&gt;X:$078000,11 ; ENC1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捕捉标志</a:t>
              </a:r>
            </a:p>
            <a:p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M114-&gt;X:$78005,14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M114=1 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P801=1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3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I5=3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0BF2885A-2AA0-4611-94F9-F2C472C9848E}"/>
              </a:ext>
            </a:extLst>
          </p:cNvPr>
          <p:cNvSpPr/>
          <p:nvPr/>
        </p:nvSpPr>
        <p:spPr>
          <a:xfrm>
            <a:off x="313881" y="5807392"/>
            <a:ext cx="846699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使能和开启后会处于循环运行状态，关闭使能通过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0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程序使能关闭命令：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DISABLE PLC 0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668C51-2D61-4E6B-B2F6-AF97B5523A1F}"/>
              </a:ext>
            </a:extLst>
          </p:cNvPr>
          <p:cNvGrpSpPr/>
          <p:nvPr/>
        </p:nvGrpSpPr>
        <p:grpSpPr>
          <a:xfrm>
            <a:off x="304257" y="1147137"/>
            <a:ext cx="4813599" cy="2326742"/>
            <a:chOff x="284584" y="3280245"/>
            <a:chExt cx="3933501" cy="225794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EB0DF70-CB2B-4D7D-BFE8-551470AEC5C3}"/>
                </a:ext>
              </a:extLst>
            </p:cNvPr>
            <p:cNvSpPr txBox="1"/>
            <p:nvPr/>
          </p:nvSpPr>
          <p:spPr>
            <a:xfrm>
              <a:off x="284584" y="3340306"/>
              <a:ext cx="3933501" cy="219788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 Ribbon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把工作台移动到情况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正限位和零位位置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点击下载按钮即可使能运行上页主程序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Watch Window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可添加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Item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查看变量状态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回零成功之后，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P801=6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8FB6DBF-7253-47F1-AE97-5AA8EB55F209}"/>
                </a:ext>
              </a:extLst>
            </p:cNvPr>
            <p:cNvSpPr/>
            <p:nvPr/>
          </p:nvSpPr>
          <p:spPr>
            <a:xfrm>
              <a:off x="3465030" y="328024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66C0D74-70F1-43F6-A8A1-5CB24731A19B}"/>
              </a:ext>
            </a:extLst>
          </p:cNvPr>
          <p:cNvGrpSpPr/>
          <p:nvPr/>
        </p:nvGrpSpPr>
        <p:grpSpPr>
          <a:xfrm>
            <a:off x="313881" y="4069526"/>
            <a:ext cx="4813599" cy="1526187"/>
            <a:chOff x="306143" y="3282669"/>
            <a:chExt cx="3652731" cy="105507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C1DAB2-18C6-4C5B-BD21-8EA60CBFB9BD}"/>
                </a:ext>
              </a:extLst>
            </p:cNvPr>
            <p:cNvSpPr txBox="1"/>
            <p:nvPr/>
          </p:nvSpPr>
          <p:spPr>
            <a:xfrm>
              <a:off x="306143" y="3282669"/>
              <a:ext cx="3652731" cy="105507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面板把电机移动到情况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8.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 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P801=1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，可进行回零动作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回零成功之后，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P801=6</a:t>
              </a: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458E1694-CE6F-4317-8A9A-0C49DBD4F509}"/>
                </a:ext>
              </a:extLst>
            </p:cNvPr>
            <p:cNvSpPr/>
            <p:nvPr/>
          </p:nvSpPr>
          <p:spPr>
            <a:xfrm>
              <a:off x="3312160" y="4003227"/>
              <a:ext cx="639411" cy="294405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79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可使用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采集数据作出图像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F2885A-2AA0-4611-94F9-F2C472C9848E}"/>
              </a:ext>
            </a:extLst>
          </p:cNvPr>
          <p:cNvSpPr/>
          <p:nvPr/>
        </p:nvSpPr>
        <p:spPr>
          <a:xfrm>
            <a:off x="250581" y="6306158"/>
            <a:ext cx="8466992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采集数据使用方法可参考直线运动教程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E757743-6747-4879-8D4E-2957DE83844C}"/>
              </a:ext>
            </a:extLst>
          </p:cNvPr>
          <p:cNvGrpSpPr/>
          <p:nvPr/>
        </p:nvGrpSpPr>
        <p:grpSpPr>
          <a:xfrm>
            <a:off x="8792" y="846246"/>
            <a:ext cx="4381515" cy="3818208"/>
            <a:chOff x="86149" y="1999374"/>
            <a:chExt cx="4381515" cy="381820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3159DF4-C05C-4016-8A29-98A6BC6CA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49" y="2567359"/>
              <a:ext cx="4381515" cy="3250223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583EE59-CB9B-49B6-9A90-7C40E9D3CD1C}"/>
                </a:ext>
              </a:extLst>
            </p:cNvPr>
            <p:cNvSpPr/>
            <p:nvPr/>
          </p:nvSpPr>
          <p:spPr>
            <a:xfrm>
              <a:off x="86149" y="1999374"/>
              <a:ext cx="2173993" cy="4589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回零位置图：</a:t>
              </a:r>
              <a:endParaRPr lang="en-US" altLang="zh-CN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752E017-81A6-4ABC-AB36-A5B34D36398D}"/>
              </a:ext>
            </a:extLst>
          </p:cNvPr>
          <p:cNvGrpSpPr/>
          <p:nvPr/>
        </p:nvGrpSpPr>
        <p:grpSpPr>
          <a:xfrm>
            <a:off x="4501145" y="846246"/>
            <a:ext cx="4492353" cy="3818208"/>
            <a:chOff x="4696921" y="1999374"/>
            <a:chExt cx="4492353" cy="3818208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D538052-D35F-4B30-87B8-88AA3D0EB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7888" y="2567359"/>
              <a:ext cx="4391386" cy="3250223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B47DB5B-875F-436C-967D-A5AD8C8A6D27}"/>
                </a:ext>
              </a:extLst>
            </p:cNvPr>
            <p:cNvSpPr/>
            <p:nvPr/>
          </p:nvSpPr>
          <p:spPr>
            <a:xfrm>
              <a:off x="4696921" y="1999374"/>
              <a:ext cx="2173993" cy="4589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回零位置图：</a:t>
              </a:r>
              <a:endParaRPr lang="en-US" altLang="zh-CN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37C3C7E-28B0-42F1-9A5A-7C14CFF60DAC}"/>
              </a:ext>
            </a:extLst>
          </p:cNvPr>
          <p:cNvSpPr/>
          <p:nvPr/>
        </p:nvSpPr>
        <p:spPr>
          <a:xfrm>
            <a:off x="176460" y="5016253"/>
            <a:ext cx="8403692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，先点击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 gather Buffer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Begin Gathering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，从点击时刻开始收集数据，运行程序，再点击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Gathering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停止收集。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Upload 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6052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理解回零</a:t>
              </a:r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HOME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搜索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788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29759" y="10619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开始回零位置搜索运动。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EC20FCA-F31C-4563-A875-9AC6E83B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422252"/>
            <a:ext cx="2576322" cy="17604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6E9D3EC-44C2-4495-B7D8-7DEC84CDF9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741"/>
          <a:stretch/>
        </p:blipFill>
        <p:spPr>
          <a:xfrm>
            <a:off x="3296948" y="3422252"/>
            <a:ext cx="5435621" cy="163830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178A0CF6-CB8B-40C3-912E-DF9B45241C83}"/>
              </a:ext>
            </a:extLst>
          </p:cNvPr>
          <p:cNvGrpSpPr/>
          <p:nvPr/>
        </p:nvGrpSpPr>
        <p:grpSpPr>
          <a:xfrm>
            <a:off x="228600" y="1133614"/>
            <a:ext cx="4794699" cy="1632215"/>
            <a:chOff x="228600" y="1133614"/>
            <a:chExt cx="4794699" cy="163221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BBBC3F4-0E0E-47CF-BF61-65133FEE9114}"/>
                </a:ext>
              </a:extLst>
            </p:cNvPr>
            <p:cNvSpPr/>
            <p:nvPr/>
          </p:nvSpPr>
          <p:spPr>
            <a:xfrm>
              <a:off x="228600" y="1230726"/>
              <a:ext cx="398526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#1HOME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ED7ACFB-249F-4B30-8D42-7979800C24EF}"/>
                </a:ext>
              </a:extLst>
            </p:cNvPr>
            <p:cNvGrpSpPr/>
            <p:nvPr/>
          </p:nvGrpSpPr>
          <p:grpSpPr>
            <a:xfrm>
              <a:off x="252808" y="1133614"/>
              <a:ext cx="4770491" cy="1632215"/>
              <a:chOff x="197397" y="1284256"/>
              <a:chExt cx="4079631" cy="1208065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26A63E8-E1E3-49EB-970F-76E5145606CC}"/>
                  </a:ext>
                </a:extLst>
              </p:cNvPr>
              <p:cNvSpPr txBox="1"/>
              <p:nvPr/>
            </p:nvSpPr>
            <p:spPr>
              <a:xfrm>
                <a:off x="197397" y="1695031"/>
                <a:ext cx="4079631" cy="797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本命令使寻址电机执行一个回零位置</a:t>
                </a:r>
                <a:r>
                  <a:rPr lang="zh-CN" altLang="en-US" sz="16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搜索例程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 回零位置搜索运动的特性由电机的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Ixx97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Ixx19-lxx26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控制，并将编码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用于电机位置编码。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4478D4E6-A6A3-40AE-BDB1-992407FCF99B}"/>
                  </a:ext>
                </a:extLst>
              </p:cNvPr>
              <p:cNvSpPr/>
              <p:nvPr/>
            </p:nvSpPr>
            <p:spPr>
              <a:xfrm>
                <a:off x="340258" y="1284256"/>
                <a:ext cx="209828" cy="2733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dirty="0">
                  <a:solidFill>
                    <a:srgbClr val="005EB8"/>
                  </a:solidFill>
                </a:endParaRPr>
              </a:p>
            </p:txBody>
          </p:sp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5EE0D34-0251-43E2-A959-7830E04FC75B}"/>
                </a:ext>
              </a:extLst>
            </p:cNvPr>
            <p:cNvCxnSpPr/>
            <p:nvPr/>
          </p:nvCxnSpPr>
          <p:spPr>
            <a:xfrm>
              <a:off x="329759" y="1595778"/>
              <a:ext cx="341301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C5DDAEBE-00B2-4D15-8D4D-DB583C67B122}"/>
              </a:ext>
            </a:extLst>
          </p:cNvPr>
          <p:cNvSpPr/>
          <p:nvPr/>
        </p:nvSpPr>
        <p:spPr>
          <a:xfrm>
            <a:off x="252808" y="6105470"/>
            <a:ext cx="77216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注意：在线回零搜索运动命令（＃xHOME）和缓冲运动程序回零搜索运动语句（HOMEn）之间的</a:t>
            </a:r>
            <a:r>
              <a:rPr lang="zh-CN" altLang="en-US" sz="1600" b="1" dirty="0">
                <a:solidFill>
                  <a:schemeClr val="accent2"/>
                </a:solidFill>
              </a:rPr>
              <a:t>语法</a:t>
            </a:r>
            <a:r>
              <a:rPr lang="zh-CN" altLang="en-US" sz="1600" dirty="0"/>
              <a:t>差别。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DBB218F-567E-416C-B256-2E6BC11ECB9B}"/>
              </a:ext>
            </a:extLst>
          </p:cNvPr>
          <p:cNvGrpSpPr/>
          <p:nvPr/>
        </p:nvGrpSpPr>
        <p:grpSpPr>
          <a:xfrm>
            <a:off x="5401224" y="1141350"/>
            <a:ext cx="3602735" cy="800718"/>
            <a:chOff x="340258" y="1284256"/>
            <a:chExt cx="4092196" cy="59264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9E9D2BE-87B1-44C2-9D96-9F71EA353B26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5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将当前命令的位置设置为零。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99A2E07-B49C-4AA4-844F-E2CF1F2FD2D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B77FF05-6B5F-4F9E-9C2F-31E7A5D3763B}"/>
                </a:ext>
              </a:extLst>
            </p:cNvPr>
            <p:cNvSpPr/>
            <p:nvPr/>
          </p:nvSpPr>
          <p:spPr>
            <a:xfrm>
              <a:off x="340258" y="1284256"/>
              <a:ext cx="1229394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HOMEZ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006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I7mn2   HOMEZ</a:t>
            </a:r>
          </a:p>
          <a:p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03D737-82F3-483F-961D-B298C2FD15D4}"/>
              </a:ext>
            </a:extLst>
          </p:cNvPr>
          <p:cNvGrpSpPr/>
          <p:nvPr/>
        </p:nvGrpSpPr>
        <p:grpSpPr>
          <a:xfrm>
            <a:off x="4611774" y="1082287"/>
            <a:ext cx="4355082" cy="4460839"/>
            <a:chOff x="340258" y="1284256"/>
            <a:chExt cx="4221660" cy="4460839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F1D6106-31A6-4B4B-9E98-A13D37E12849}"/>
                </a:ext>
              </a:extLst>
            </p:cNvPr>
            <p:cNvSpPr txBox="1"/>
            <p:nvPr/>
          </p:nvSpPr>
          <p:spPr>
            <a:xfrm>
              <a:off x="482287" y="1755861"/>
              <a:ext cx="4079631" cy="3989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I7mn2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的以下设置可能会被用到：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0: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在索引为高时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2: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为高捕捉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3: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在索引和标志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都为高时捕捉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4: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5: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6: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为高时捕捉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7: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在索引为低和标志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为高时捕捉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8: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9: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在索引为高时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10: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11: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在索引为高并且标志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12: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13: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在索引为低时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14: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15: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在索引为低和标志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3AB7DC1-8B6B-489C-BE18-AD8BF1A07ED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752534-B936-409F-8FC8-0A1C620EE16D}"/>
                </a:ext>
              </a:extLst>
            </p:cNvPr>
            <p:cNvSpPr/>
            <p:nvPr/>
          </p:nvSpPr>
          <p:spPr>
            <a:xfrm>
              <a:off x="340258" y="1284256"/>
              <a:ext cx="5630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I7mn2</a:t>
              </a:r>
              <a:endParaRPr lang="zh-CN" altLang="en-US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3FD41D3-BEEF-4D62-9797-56794F2BC861}"/>
              </a:ext>
            </a:extLst>
          </p:cNvPr>
          <p:cNvGrpSpPr/>
          <p:nvPr/>
        </p:nvGrpSpPr>
        <p:grpSpPr>
          <a:xfrm>
            <a:off x="130994" y="1119325"/>
            <a:ext cx="4355082" cy="1504773"/>
            <a:chOff x="340258" y="1284256"/>
            <a:chExt cx="4221660" cy="1504773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F5E67BC-B0DA-45B2-80EE-22596BE5F911}"/>
                </a:ext>
              </a:extLst>
            </p:cNvPr>
            <p:cNvSpPr txBox="1"/>
            <p:nvPr/>
          </p:nvSpPr>
          <p:spPr>
            <a:xfrm>
              <a:off x="482287" y="1755861"/>
              <a:ext cx="4079631" cy="103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0: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1: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PLIMn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2: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MLIMn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负限位标志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3: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USERn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  <a:endPara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FAD98F-34FC-4E0A-A780-9BF97FB04F1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D308AC7-947C-4D55-87ED-8FA2B159764F}"/>
                </a:ext>
              </a:extLst>
            </p:cNvPr>
            <p:cNvSpPr/>
            <p:nvPr/>
          </p:nvSpPr>
          <p:spPr>
            <a:xfrm>
              <a:off x="340258" y="1284256"/>
              <a:ext cx="8937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I7mn3</a:t>
              </a:r>
              <a:endParaRPr lang="zh-CN" altLang="en-US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AB68F4EC-DD7F-4D26-AAA3-7D52FB35C585}"/>
              </a:ext>
            </a:extLst>
          </p:cNvPr>
          <p:cNvSpPr/>
          <p:nvPr/>
        </p:nvSpPr>
        <p:spPr>
          <a:xfrm>
            <a:off x="277512" y="4300458"/>
            <a:ext cx="4572000" cy="10781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号电机，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号电机上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编码器通道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I7013=0  //0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号电机，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I7012=15 //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组合方式，检测到低，且是回零标志低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B7CD3-6FEA-460A-AC7E-A835443AB478}"/>
              </a:ext>
            </a:extLst>
          </p:cNvPr>
          <p:cNvSpPr/>
          <p:nvPr/>
        </p:nvSpPr>
        <p:spPr>
          <a:xfrm>
            <a:off x="265839" y="3050178"/>
            <a:ext cx="4345935" cy="824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I7mn3 决定哪个限位标志输入将被用于第 </a:t>
            </a:r>
            <a:r>
              <a:rPr lang="zh-CN" altLang="en-US" sz="11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m个 PMAC2 类型伺服 IC 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1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n 通道编码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计数器的硬件位置捕捉（如果使用的话）。I7mn2 决定是否使用标志和标志的哪个极性能触发触发器。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8CAB50-0632-4047-9E66-0745D4911EFF}"/>
              </a:ext>
            </a:extLst>
          </p:cNvPr>
          <p:cNvSpPr/>
          <p:nvPr/>
        </p:nvSpPr>
        <p:spPr>
          <a:xfrm>
            <a:off x="228600" y="795346"/>
            <a:ext cx="82032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(用第 m个伺服 IC 的 n 通道，其中 m = 0 到 9，n = 1 到 4) 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65738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14044"/>
              </p:ext>
            </p:extLst>
          </p:nvPr>
        </p:nvGraphicFramePr>
        <p:xfrm>
          <a:off x="0" y="1085777"/>
          <a:ext cx="9143999" cy="5116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092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2621428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2621428">
                  <a:extLst>
                    <a:ext uri="{9D8B030D-6E8A-4147-A177-3AD203B41FA5}">
                      <a16:colId xmlns:a16="http://schemas.microsoft.com/office/drawing/2014/main" val="1286381686"/>
                    </a:ext>
                  </a:extLst>
                </a:gridCol>
                <a:gridCol w="81705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13-2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触发的电机移动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回零运动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6758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英文 </a:t>
                      </a: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Clipper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控制器硬件手册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(2018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版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Limits and Flags [Axis 1- 4] Suggested M-Variables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限位开关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变量映射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 PLC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程序控制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PMAC2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推荐的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电机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状态位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M133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647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1995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 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开始回零位置搜索运动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307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5579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J^*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J^*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偏置指令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319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38856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PMAC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技术培训（初级）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电机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Jog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13-1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手动移动控制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Ixx20</a:t>
                      </a:r>
                    </a:p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73319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59450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4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 Window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观察变量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1236D13-5F16-4715-952F-01EF41CAE870}"/>
              </a:ext>
            </a:extLst>
          </p:cNvPr>
          <p:cNvGrpSpPr/>
          <p:nvPr/>
        </p:nvGrpSpPr>
        <p:grpSpPr>
          <a:xfrm>
            <a:off x="313881" y="824168"/>
            <a:ext cx="3745523" cy="1308116"/>
            <a:chOff x="380825" y="3340306"/>
            <a:chExt cx="3652731" cy="957326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15DDE75-EF6D-401A-94F7-5891DC55660A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View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Watch Window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，右键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Item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添加需要查看的变量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71D8F2C9-AB49-4764-A899-E0DDFBDE6A18}"/>
                </a:ext>
              </a:extLst>
            </p:cNvPr>
            <p:cNvSpPr/>
            <p:nvPr/>
          </p:nvSpPr>
          <p:spPr>
            <a:xfrm>
              <a:off x="3312160" y="3860899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CF77753-A0FC-4F63-A0C0-50BBE7ABAEA4}"/>
              </a:ext>
            </a:extLst>
          </p:cNvPr>
          <p:cNvGrpSpPr/>
          <p:nvPr/>
        </p:nvGrpSpPr>
        <p:grpSpPr>
          <a:xfrm>
            <a:off x="562707" y="2260209"/>
            <a:ext cx="7886041" cy="4931015"/>
            <a:chOff x="826476" y="2762327"/>
            <a:chExt cx="7886041" cy="493101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71CAA1-4A27-4F0E-BDDA-C08270369076}"/>
                </a:ext>
              </a:extLst>
            </p:cNvPr>
            <p:cNvGrpSpPr/>
            <p:nvPr/>
          </p:nvGrpSpPr>
          <p:grpSpPr>
            <a:xfrm>
              <a:off x="826476" y="2762327"/>
              <a:ext cx="7667042" cy="3714093"/>
              <a:chOff x="826476" y="2762327"/>
              <a:chExt cx="7667042" cy="3714093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C00726B9-7A93-4FC1-A59E-2021DE3B7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6476" y="2762327"/>
                <a:ext cx="7531739" cy="3714093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C5FEB2D2-B03A-4158-BF9F-548921F0C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7693" y="3188010"/>
                <a:ext cx="4695825" cy="3162300"/>
              </a:xfrm>
              <a:prstGeom prst="rect">
                <a:avLst/>
              </a:prstGeom>
            </p:spPr>
          </p:pic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B46DDC6C-6838-492E-A084-59D97C5F9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1642" y="4254817"/>
              <a:ext cx="3190875" cy="34385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856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0" y="101526"/>
            <a:ext cx="7820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Programs/PLC Status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观察程序状态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AF0237-4BB3-4146-96D7-42CF87AD8892}"/>
              </a:ext>
            </a:extLst>
          </p:cNvPr>
          <p:cNvGrpSpPr/>
          <p:nvPr/>
        </p:nvGrpSpPr>
        <p:grpSpPr>
          <a:xfrm>
            <a:off x="928434" y="2524840"/>
            <a:ext cx="6591504" cy="3917201"/>
            <a:chOff x="697319" y="2211146"/>
            <a:chExt cx="6931677" cy="40008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690053D-B293-4D78-8F13-E37D1C94B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7319" y="2211146"/>
              <a:ext cx="2282327" cy="286739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A4A05CC-BDDA-4A8D-8860-87AC62ACF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4187" y="2211146"/>
              <a:ext cx="4724809" cy="4000847"/>
            </a:xfrm>
            <a:prstGeom prst="rect">
              <a:avLst/>
            </a:prstGeom>
          </p:spPr>
        </p:pic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C9BFA883-EA42-4690-8A41-D7DECFEE3F5F}"/>
              </a:ext>
            </a:extLst>
          </p:cNvPr>
          <p:cNvSpPr/>
          <p:nvPr/>
        </p:nvSpPr>
        <p:spPr>
          <a:xfrm>
            <a:off x="172299" y="1188953"/>
            <a:ext cx="6506309" cy="871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程序使能命令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ENABLE PLC n  //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使能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PLC 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Yes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程序关闭命令：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DISABLE PLC n  //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关闭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PLC n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380D44A-A65A-4C58-BDC7-43DD9E7E46E6}"/>
              </a:ext>
            </a:extLst>
          </p:cNvPr>
          <p:cNvCxnSpPr>
            <a:cxnSpLocks/>
          </p:cNvCxnSpPr>
          <p:nvPr/>
        </p:nvCxnSpPr>
        <p:spPr>
          <a:xfrm>
            <a:off x="5767754" y="1624649"/>
            <a:ext cx="277493" cy="1654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4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7FF2E471-119A-4878-B52B-EFCDACA2F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840" y="1085777"/>
            <a:ext cx="4182529" cy="484632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 Status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观察变量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1236D13-5F16-4715-952F-01EF41CAE870}"/>
              </a:ext>
            </a:extLst>
          </p:cNvPr>
          <p:cNvGrpSpPr/>
          <p:nvPr/>
        </p:nvGrpSpPr>
        <p:grpSpPr>
          <a:xfrm>
            <a:off x="422031" y="1010358"/>
            <a:ext cx="3745523" cy="1751969"/>
            <a:chOff x="380825" y="3340306"/>
            <a:chExt cx="3652731" cy="128215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15DDE75-EF6D-401A-94F7-5891DC55660A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116918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View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Watch Status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，可以看到寄存器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X:$0000B0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Y:$0000C0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各个位（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Bit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）状态，</a:t>
              </a:r>
              <a:r>
                <a:rPr lang="zh-CN" altLang="en-US" sz="1600" b="1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黄色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蓝色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71D8F2C9-AB49-4764-A899-E0DDFBDE6A18}"/>
                </a:ext>
              </a:extLst>
            </p:cNvPr>
            <p:cNvSpPr/>
            <p:nvPr/>
          </p:nvSpPr>
          <p:spPr>
            <a:xfrm>
              <a:off x="3312160" y="4185726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11128F0-03D0-492E-B2A2-BA3A417C801E}"/>
              </a:ext>
            </a:extLst>
          </p:cNvPr>
          <p:cNvCxnSpPr>
            <a:cxnSpLocks/>
          </p:cNvCxnSpPr>
          <p:nvPr/>
        </p:nvCxnSpPr>
        <p:spPr>
          <a:xfrm>
            <a:off x="2263140" y="2996213"/>
            <a:ext cx="2282190" cy="12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79127E4-CBCC-497B-8E6C-7F872F656BF9}"/>
              </a:ext>
            </a:extLst>
          </p:cNvPr>
          <p:cNvSpPr/>
          <p:nvPr/>
        </p:nvSpPr>
        <p:spPr>
          <a:xfrm>
            <a:off x="199757" y="2822446"/>
            <a:ext cx="35416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M133-&gt;X:$0000B0,13,1 ;</a:t>
            </a: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是该位为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</a:p>
          <a:p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s-E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M140-&gt;Y:$0000C0,0,1 ;</a:t>
            </a: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es-E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#1 </a:t>
            </a:r>
            <a:r>
              <a:rPr lang="zh-CN" altLang="es-E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后台在位位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，运行时为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Jog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到位后为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endParaRPr lang="zh-CN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8BA8E0-90A3-417F-A76A-78238C21CC3F}"/>
              </a:ext>
            </a:extLst>
          </p:cNvPr>
          <p:cNvSpPr/>
          <p:nvPr/>
        </p:nvSpPr>
        <p:spPr>
          <a:xfrm>
            <a:off x="199757" y="4379362"/>
            <a:ext cx="41152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变量指向各位作为回零程序判断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9425B66-4DA5-4BE6-9D35-C1EE6A55269F}"/>
              </a:ext>
            </a:extLst>
          </p:cNvPr>
          <p:cNvCxnSpPr>
            <a:cxnSpLocks/>
          </p:cNvCxnSpPr>
          <p:nvPr/>
        </p:nvCxnSpPr>
        <p:spPr>
          <a:xfrm>
            <a:off x="2034540" y="3507283"/>
            <a:ext cx="4259580" cy="1353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183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 Status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观察变量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C422C5A-B21B-4ABF-8FD5-C637604CA1A2}"/>
              </a:ext>
            </a:extLst>
          </p:cNvPr>
          <p:cNvGrpSpPr/>
          <p:nvPr/>
        </p:nvGrpSpPr>
        <p:grpSpPr>
          <a:xfrm>
            <a:off x="1657118" y="1697731"/>
            <a:ext cx="5961185" cy="4637565"/>
            <a:chOff x="4954157" y="912393"/>
            <a:chExt cx="5034491" cy="4479525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244E3F7-B4DE-4654-9867-F06CBE5F2D69}"/>
                </a:ext>
              </a:extLst>
            </p:cNvPr>
            <p:cNvSpPr txBox="1"/>
            <p:nvPr/>
          </p:nvSpPr>
          <p:spPr>
            <a:xfrm>
              <a:off x="5049976" y="1348800"/>
              <a:ext cx="4441163" cy="40431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 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M130-&gt;Y:$0000C0,11,1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停止在限位上的状态位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M131-&gt;X:$0000B0,21,1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正限位设置位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M132-&gt;X:$0000B0,22,1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负限位设置位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M133-&gt;X:$0000B0,13,1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期望速度位零的状态位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M135-&gt;X:$0000B0,15,1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暂停状态正在进行位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M137-&gt;X:$0000B0,17,1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运行程序位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M138-&gt;X:$0000B0,18,1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开环模式位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M139-&gt;X:$0000B0,19,1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驱动器使能状态位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M140-&gt;Y:$0000C0,0,1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后台在位位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M141-&gt;Y:$0000C0,1,1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警告跟随误差位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M142-&gt;Y:$0000C0,2,1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致命跟随误差位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M143-&gt;Y:$0000C0,3,1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驱动器致命误差位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M144-&gt;Y:$0000C0,13,1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前台在位位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M145-&gt;Y:$0000C0,10,1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回零完成位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M146-&gt;Y:$0000C0,6,1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积分跟随误差致命位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M147-&gt;Y:$0000C0,5,1 ; #1 I²T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故障位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M148-&gt;Y:$0000C0,8,1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定相误差故障位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M149-&gt;Y:$0000C0,9,1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正在定相搜索状态位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6D49926-1D85-4177-9C98-7F89C06A48ED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0978500-AD6F-402A-9C45-E71412011DF7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DDAF660-6D27-4B40-9077-B04FB202E9A8}"/>
              </a:ext>
            </a:extLst>
          </p:cNvPr>
          <p:cNvSpPr/>
          <p:nvPr/>
        </p:nvSpPr>
        <p:spPr>
          <a:xfrm>
            <a:off x="483576" y="1170139"/>
            <a:ext cx="84054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软件参考手册中文版</a:t>
            </a:r>
            <a:r>
              <a:rPr lang="en-US" altLang="zh-CN" dirty="0"/>
              <a:t>P647</a:t>
            </a:r>
            <a:r>
              <a:rPr lang="zh-CN" altLang="en-US" dirty="0"/>
              <a:t>推荐</a:t>
            </a:r>
            <a:r>
              <a:rPr lang="en-US" altLang="zh-CN" dirty="0"/>
              <a:t>M</a:t>
            </a:r>
            <a:r>
              <a:rPr lang="zh-CN" altLang="en-US" dirty="0"/>
              <a:t>变量中 </a:t>
            </a:r>
          </a:p>
        </p:txBody>
      </p:sp>
    </p:spTree>
    <p:extLst>
      <p:ext uri="{BB962C8B-B14F-4D97-AF65-F5344CB8AC3E}">
        <p14:creationId xmlns:p14="http://schemas.microsoft.com/office/powerpoint/2010/main" val="315566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6334</TotalTime>
  <Words>2162</Words>
  <Application>Microsoft Office PowerPoint</Application>
  <PresentationFormat>全屏显示(4:3)</PresentationFormat>
  <Paragraphs>336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隶书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伍绍森</dc:creator>
  <cp:lastModifiedBy>黄 智雄</cp:lastModifiedBy>
  <cp:revision>116</cp:revision>
  <dcterms:created xsi:type="dcterms:W3CDTF">2019-07-16T11:12:01Z</dcterms:created>
  <dcterms:modified xsi:type="dcterms:W3CDTF">2022-04-14T08:18:00Z</dcterms:modified>
</cp:coreProperties>
</file>