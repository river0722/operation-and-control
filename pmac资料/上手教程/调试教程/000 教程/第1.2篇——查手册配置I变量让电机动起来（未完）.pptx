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3">
  <p:sldMasterIdLst>
    <p:sldMasterId id="2147483648" r:id="rId1"/>
  </p:sldMasterIdLst>
  <p:sldIdLst>
    <p:sldId id="256" r:id="rId2"/>
    <p:sldId id="292" r:id="rId3"/>
    <p:sldId id="296" r:id="rId4"/>
    <p:sldId id="293" r:id="rId5"/>
    <p:sldId id="294" r:id="rId6"/>
    <p:sldId id="300" r:id="rId7"/>
    <p:sldId id="299" r:id="rId8"/>
    <p:sldId id="297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295" r:id="rId17"/>
    <p:sldId id="309" r:id="rId18"/>
    <p:sldId id="308" r:id="rId19"/>
    <p:sldId id="298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0C039-DE96-4F62-9C8E-68ABE6AF2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5D1897-943D-4221-A925-8FD6027FE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08B57-E1FC-4A11-ABE1-8596B511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409D9A-27EA-4CD9-9398-19C8F296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5F279-560D-4901-925C-1AA1CB61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16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29EFC-BAB9-49DE-9E13-6F802118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C9CC87-2B88-4E37-A358-08CD7CF1F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D8C021-521F-4419-8FAD-946D5113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AC870-C8EE-400F-8976-656A8753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806A0-29F4-463A-B3F8-8846F4FD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1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D26BE-6906-4329-B9AA-A836992B8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43FC7A-970E-439D-A690-BE7F814DF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30479-5B78-46FC-AD7F-C7124FDB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C9639-2627-4B5F-B66D-CD2C44C1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0EFEBD-BB95-4CCB-A54F-DAEE2DC1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D2F756-37C2-4ABC-8059-4AAD3936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EB55AF-A493-41DF-9604-8CDF01B74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5EF316-D6B3-4B1F-A384-1CEE93608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063479-587A-4118-94C1-3E52CA2B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B0716C-1AE7-4EF0-AB8D-C9513439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6DE320-0E25-4EB4-B139-4E2FCA39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7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16DD0-650F-446C-B80C-A1AAF2D3C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B2DB36-73FC-4E20-ADF2-ED159550E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174910-D27F-4F6E-BACC-4F36048F8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A8C2FC-FBD8-47E5-B791-563DAE614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29A994-556F-432A-A6FF-4D2B9773A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DE96CD-0E74-4869-9E7E-B6887229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2C4417-4543-47FF-A332-BF53F84D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30DCCD-2AF3-4781-8A5D-D9512301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28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51559-5E6E-4135-86AD-999A40EF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9CA1C7-3E06-4C91-BE82-BBD8E54B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AD155F-05DA-47C0-B6ED-2928F521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4C54B8-78F1-403B-987A-A1BF145B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214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8DF261-CEA3-4E11-8E2F-083D07E8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709D42-F940-4CE2-B8F7-C50BAE0E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9870A-C80E-49CD-BFE0-1B29BFF7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8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1FC8F-88A9-41F3-9A8A-33546DDF7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F7110-537C-454A-98B4-A3C48EF95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784D29-4EB2-4318-9605-7ED602DCB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A6B832-BFCF-4A7B-A93C-CF318B7F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9F8721-4E1A-4996-81A0-16AA9BA4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E43F2-9043-428C-8B9C-4DF362BD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9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5FCB7-371B-447C-A044-6FE6B98F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154D62-B5CC-4861-B55C-FEC64652C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502124-0295-40A1-817E-EE04E5FEE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D4DC9F-14D7-41D1-A2AD-7CA17A92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2162E2-02D5-4938-8136-AD4E919C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6B4109-1C1C-4A69-99C9-7E760ED7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64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38961-0BC4-4A8D-A081-EE281B06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90C95F-22F6-46E3-A38F-3BF4793D8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F51026-D4AA-4E43-BD34-6B4711FC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FB65E-9CED-4145-8082-D71E1519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4881FA-1677-4D89-B463-0B9AB2C3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E2D0ED-1734-4A80-AEA6-0FCE2E678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70CB5B-4069-4836-A4F2-948FAA08B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8E017-7E8F-45BB-A656-0008CDAD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7124D-BFC2-4016-A13A-3BA7770B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8EBED-E784-40C1-998E-D46C56CF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92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4CEAE3-D573-48E0-B727-9568281D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93DA28-2869-4158-A72F-374B7EFF0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644BC-464A-4215-8A42-23A46B03D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519DC-CD9C-454F-9F1F-81F9BA0E20EB}" type="datetimeFigureOut">
              <a:rPr lang="zh-CN" altLang="en-US" smtClean="0"/>
              <a:t>2019/7/20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0974B3-273E-42DA-BEED-90831D5D5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FB5CD-4AF7-4676-B47A-7A72E90D3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70D4D-F4B4-4772-B35D-3A0D46D60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11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Setup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让电机动起来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19913ED-FEB6-4D28-916D-69FFD6D25952}"/>
              </a:ext>
            </a:extLst>
          </p:cNvPr>
          <p:cNvGrpSpPr/>
          <p:nvPr/>
        </p:nvGrpSpPr>
        <p:grpSpPr>
          <a:xfrm>
            <a:off x="400348" y="1984931"/>
            <a:ext cx="8576598" cy="2295144"/>
            <a:chOff x="340258" y="1284256"/>
            <a:chExt cx="4092196" cy="1964566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7FF0D0E-F6EF-48FB-9212-F1D7371D155D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622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方式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：对于初学者，使用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TurboSetup32Pro2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，它采用向导界面，帮助我们设置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Turbo 			PMAC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卡；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方式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：通过设置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变量到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调试</a:t>
              </a:r>
            </a:p>
            <a:p>
              <a:pPr>
                <a:lnSpc>
                  <a:spcPct val="150000"/>
                </a:lnSpc>
              </a:pP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27D2062-60DD-433A-B3C9-D153DE018C7E}"/>
                </a:ext>
              </a:extLst>
            </p:cNvPr>
            <p:cNvSpPr/>
            <p:nvPr/>
          </p:nvSpPr>
          <p:spPr>
            <a:xfrm>
              <a:off x="340258" y="1284256"/>
              <a:ext cx="1127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3913196-632E-4486-B5F8-3B17A7F14041}"/>
              </a:ext>
            </a:extLst>
          </p:cNvPr>
          <p:cNvSpPr/>
          <p:nvPr/>
        </p:nvSpPr>
        <p:spPr>
          <a:xfrm>
            <a:off x="518550" y="5320112"/>
            <a:ext cx="8084229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本教程和其他教程用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号电机调试，如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Ixx00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号电机，若对其他电机，需找到对应变量解释以及赋值</a:t>
            </a:r>
          </a:p>
        </p:txBody>
      </p:sp>
    </p:spTree>
    <p:extLst>
      <p:ext uri="{BB962C8B-B14F-4D97-AF65-F5344CB8AC3E}">
        <p14:creationId xmlns:p14="http://schemas.microsoft.com/office/powerpoint/2010/main" val="201698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C7BE4C-3F37-416C-8352-29981732E7ED}"/>
              </a:ext>
            </a:extLst>
          </p:cNvPr>
          <p:cNvSpPr/>
          <p:nvPr/>
        </p:nvSpPr>
        <p:spPr>
          <a:xfrm>
            <a:off x="1204547" y="1553869"/>
            <a:ext cx="4572000" cy="43083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打开手册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按教程手册建立通信。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测试编码盘反馈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配置输出指令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开环测试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参数调参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JOG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电机</a:t>
            </a:r>
          </a:p>
        </p:txBody>
      </p:sp>
    </p:spTree>
    <p:extLst>
      <p:ext uri="{BB962C8B-B14F-4D97-AF65-F5344CB8AC3E}">
        <p14:creationId xmlns:p14="http://schemas.microsoft.com/office/powerpoint/2010/main" val="1689328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打开所需对应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Turbo</a:t>
            </a:r>
            <a:r>
              <a:rPr lang="zh-CN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卡型的三大手册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C7BE4C-3F37-416C-8352-29981732E7ED}"/>
              </a:ext>
            </a:extLst>
          </p:cNvPr>
          <p:cNvSpPr/>
          <p:nvPr/>
        </p:nvSpPr>
        <p:spPr>
          <a:xfrm>
            <a:off x="756139" y="1870392"/>
            <a:ext cx="8273561" cy="2127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dirty="0"/>
              <a:t>对应手册：</a:t>
            </a:r>
            <a:endParaRPr lang="en-US" altLang="zh-CN" b="1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b="1" dirty="0"/>
              <a:t>Turbo PMAC</a:t>
            </a:r>
            <a:r>
              <a:rPr lang="zh-CN" altLang="zh-CN" b="1" dirty="0"/>
              <a:t>通信</a:t>
            </a:r>
            <a:r>
              <a:rPr lang="en-US" altLang="zh-CN" b="1" dirty="0"/>
              <a:t>.pdf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b="1" dirty="0"/>
              <a:t>硬件手册——</a:t>
            </a:r>
            <a:r>
              <a:rPr lang="en-US" altLang="zh-CN" b="1" dirty="0"/>
              <a:t>TURBO PMAC HARDWARE REFERENCE MANUAL.pdf</a:t>
            </a:r>
            <a:r>
              <a:rPr lang="zh-CN" altLang="zh-CN" b="1" dirty="0"/>
              <a:t>（</a:t>
            </a:r>
            <a:r>
              <a:rPr lang="en-US" altLang="zh-CN" b="1" dirty="0"/>
              <a:t>HRM</a:t>
            </a:r>
            <a:r>
              <a:rPr lang="zh-CN" altLang="zh-CN" b="1" dirty="0"/>
              <a:t>）</a:t>
            </a:r>
            <a:endParaRPr lang="en-US" altLang="zh-CN" b="1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b="1" dirty="0"/>
              <a:t>软件手册——</a:t>
            </a:r>
            <a:r>
              <a:rPr lang="en-US" altLang="zh-CN" b="1" dirty="0"/>
              <a:t>TURBO PMAC SOFTWARE REFERENCE MANUAL.pdf</a:t>
            </a:r>
            <a:r>
              <a:rPr lang="zh-CN" altLang="zh-CN" b="1" dirty="0"/>
              <a:t>（</a:t>
            </a:r>
            <a:r>
              <a:rPr lang="en-US" altLang="zh-CN" b="1" dirty="0"/>
              <a:t>SRM</a:t>
            </a:r>
            <a:r>
              <a:rPr lang="zh-CN" altLang="zh-CN" b="1" dirty="0"/>
              <a:t>）</a:t>
            </a:r>
            <a:endParaRPr lang="en-US" altLang="zh-CN" b="1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b="1" dirty="0"/>
              <a:t>用户手册——</a:t>
            </a:r>
            <a:r>
              <a:rPr lang="en-US" altLang="zh-CN" b="1" dirty="0"/>
              <a:t>TURBO PMAC USER MANUAL.pdf</a:t>
            </a:r>
            <a:endParaRPr lang="zh-CN" altLang="zh-CN" b="1" dirty="0"/>
          </a:p>
        </p:txBody>
      </p:sp>
    </p:spTree>
    <p:extLst>
      <p:ext uri="{BB962C8B-B14F-4D97-AF65-F5344CB8AC3E}">
        <p14:creationId xmlns:p14="http://schemas.microsoft.com/office/powerpoint/2010/main" val="29577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测试编码盘反馈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998960-0E3B-4A93-9A76-039664A9E992}"/>
              </a:ext>
            </a:extLst>
          </p:cNvPr>
          <p:cNvPicPr/>
          <p:nvPr/>
        </p:nvPicPr>
        <p:blipFill rotWithShape="1">
          <a:blip r:embed="rId2"/>
          <a:srcRect r="35905"/>
          <a:stretch/>
        </p:blipFill>
        <p:spPr>
          <a:xfrm>
            <a:off x="5317155" y="986065"/>
            <a:ext cx="3655021" cy="2442935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71824" y="975692"/>
            <a:ext cx="5027221" cy="1225354"/>
            <a:chOff x="380825" y="3271928"/>
            <a:chExt cx="3706961" cy="1963897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89551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如下图，打开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面板；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手动转动电机；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观察面板脉冲数值变化，如果变化说明反馈正常。</a:t>
              </a:r>
            </a:p>
            <a:p>
              <a:pPr>
                <a:lnSpc>
                  <a:spcPct val="150000"/>
                </a:lnSpc>
              </a:pP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66390" y="3271928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B6A0B3C-6D9F-417F-AB2D-E15DDDF3B261}"/>
              </a:ext>
            </a:extLst>
          </p:cNvPr>
          <p:cNvGrpSpPr/>
          <p:nvPr/>
        </p:nvGrpSpPr>
        <p:grpSpPr>
          <a:xfrm>
            <a:off x="171824" y="2523014"/>
            <a:ext cx="5027221" cy="1938183"/>
            <a:chOff x="380825" y="3271928"/>
            <a:chExt cx="3706961" cy="310636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4FFB6FD-9367-41C6-A6DF-A539A5BFF3C1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303798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检查接线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I7mn0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变量，查看软件手册，对于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号电机，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m=0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可选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通道，故配置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I7010=7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观察面板脉冲数值变化，如果变化说明反馈正常。</a:t>
              </a:r>
            </a:p>
            <a:p>
              <a:pPr>
                <a:lnSpc>
                  <a:spcPct val="150000"/>
                </a:lnSpc>
              </a:pP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55C592D-FA47-4B94-8359-606BDBF08E42}"/>
                </a:ext>
              </a:extLst>
            </p:cNvPr>
            <p:cNvSpPr/>
            <p:nvPr/>
          </p:nvSpPr>
          <p:spPr>
            <a:xfrm>
              <a:off x="2911505" y="3271928"/>
              <a:ext cx="1176281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异常处理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CB4AE414-D382-40D5-A384-7D4B3AA97ACA}"/>
              </a:ext>
            </a:extLst>
          </p:cNvPr>
          <p:cNvSpPr/>
          <p:nvPr/>
        </p:nvSpPr>
        <p:spPr>
          <a:xfrm>
            <a:off x="1106290" y="5303259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I7010=7</a:t>
            </a:r>
          </a:p>
        </p:txBody>
      </p:sp>
    </p:spTree>
    <p:extLst>
      <p:ext uri="{BB962C8B-B14F-4D97-AF65-F5344CB8AC3E}">
        <p14:creationId xmlns:p14="http://schemas.microsoft.com/office/powerpoint/2010/main" val="321020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配置输出指令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400347" y="1014739"/>
            <a:ext cx="8040267" cy="1429523"/>
            <a:chOff x="380825" y="2972637"/>
            <a:chExt cx="3683992" cy="192647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5880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激活电机操作 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Ixx00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Motor Status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面板，在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面板输入指令 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I100=1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设置是否由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PMAC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对电机换向 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Ixx01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：对一般电机，选择禁用换向，在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面板输入指令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I101=0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701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配置输出指令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1"/>
            <a:ext cx="8706875" cy="1021168"/>
            <a:chOff x="380825" y="2972637"/>
            <a:chExt cx="3683992" cy="160693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23926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设置控制电机的指令输出方式 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Ixx02</a:t>
              </a:r>
              <a:r>
                <a:rPr lang="zh-CN" altLang="en-US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I7mn6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面板输入指令： 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I102 = $078002</a:t>
              </a:r>
              <a:r>
                <a:rPr lang="zh-CN" altLang="en-US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I7106 = 0 </a:t>
              </a:r>
              <a:endParaRPr lang="zh-CN" altLang="en-US" sz="16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36573592-557E-4A0C-9CEB-F0C79D56C99B}"/>
              </a:ext>
            </a:extLst>
          </p:cNvPr>
          <p:cNvSpPr/>
          <p:nvPr/>
        </p:nvSpPr>
        <p:spPr>
          <a:xfrm>
            <a:off x="400348" y="3219844"/>
            <a:ext cx="79544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Ixx02</a:t>
            </a:r>
            <a:r>
              <a:rPr lang="zh-CN" altLang="zh-CN" b="1" dirty="0"/>
              <a:t>：电机</a:t>
            </a:r>
            <a:r>
              <a:rPr lang="en-US" altLang="zh-CN" b="1" dirty="0"/>
              <a:t> xx </a:t>
            </a:r>
            <a:r>
              <a:rPr lang="zh-CN" altLang="zh-CN" b="1" dirty="0"/>
              <a:t>指令输出地址。</a:t>
            </a:r>
          </a:p>
          <a:p>
            <a:r>
              <a:rPr lang="zh-CN" altLang="zh-CN" b="1" dirty="0"/>
              <a:t>每个电机有三个输出寄存器</a:t>
            </a:r>
            <a:r>
              <a:rPr lang="en-US" altLang="zh-CN" b="1" dirty="0"/>
              <a:t> A</a:t>
            </a:r>
            <a:r>
              <a:rPr lang="zh-CN" altLang="zh-CN" b="1" dirty="0"/>
              <a:t>、</a:t>
            </a:r>
            <a:r>
              <a:rPr lang="en-US" altLang="zh-CN" b="1" dirty="0"/>
              <a:t>B</a:t>
            </a:r>
            <a:r>
              <a:rPr lang="zh-CN" altLang="zh-CN" b="1" dirty="0"/>
              <a:t>、</a:t>
            </a:r>
            <a:r>
              <a:rPr lang="en-US" altLang="zh-CN" b="1" dirty="0"/>
              <a:t>C</a:t>
            </a:r>
            <a:r>
              <a:rPr lang="zh-CN" altLang="zh-CN" b="1" dirty="0"/>
              <a:t>，决定</a:t>
            </a:r>
            <a:r>
              <a:rPr lang="en-US" altLang="zh-CN" b="1" dirty="0"/>
              <a:t> PMAC</a:t>
            </a:r>
            <a:r>
              <a:rPr lang="zh-CN" altLang="zh-CN" b="1" dirty="0"/>
              <a:t>输出的指令类型。使用</a:t>
            </a:r>
            <a:r>
              <a:rPr lang="en-US" altLang="zh-CN" b="1" dirty="0"/>
              <a:t> A</a:t>
            </a:r>
            <a:r>
              <a:rPr lang="zh-CN" altLang="zh-CN" b="1" dirty="0"/>
              <a:t>、</a:t>
            </a:r>
            <a:r>
              <a:rPr lang="en-US" altLang="zh-CN" b="1" dirty="0"/>
              <a:t>B</a:t>
            </a:r>
            <a:r>
              <a:rPr lang="zh-CN" altLang="zh-CN" b="1" dirty="0"/>
              <a:t>、</a:t>
            </a:r>
            <a:r>
              <a:rPr lang="en-US" altLang="zh-CN" b="1" dirty="0"/>
              <a:t>C</a:t>
            </a:r>
            <a:r>
              <a:rPr lang="zh-CN" altLang="zh-CN" b="1" dirty="0"/>
              <a:t>中的哪一个寄存器，是由</a:t>
            </a:r>
            <a:r>
              <a:rPr lang="en-US" altLang="zh-CN" b="1" dirty="0"/>
              <a:t> Ixx02 </a:t>
            </a:r>
            <a:r>
              <a:rPr lang="zh-CN" altLang="zh-CN" b="1" dirty="0"/>
              <a:t>决定的。</a:t>
            </a:r>
            <a:r>
              <a:rPr lang="en-US" altLang="zh-CN" b="1" dirty="0"/>
              <a:t>Turbo PMAC2 </a:t>
            </a:r>
            <a:r>
              <a:rPr lang="zh-CN" altLang="zh-CN" b="1" dirty="0"/>
              <a:t>卡的</a:t>
            </a:r>
            <a:r>
              <a:rPr lang="en-US" altLang="zh-CN" b="1" dirty="0"/>
              <a:t> #1 </a:t>
            </a:r>
            <a:r>
              <a:rPr lang="zh-CN" altLang="zh-CN" b="1" dirty="0"/>
              <a:t>号电机 </a:t>
            </a:r>
            <a:r>
              <a:rPr lang="en-US" altLang="zh-CN" b="1" dirty="0"/>
              <a:t>$078002 </a:t>
            </a:r>
            <a:r>
              <a:rPr lang="zh-CN" altLang="zh-CN" b="1" dirty="0"/>
              <a:t>是输出</a:t>
            </a:r>
            <a:r>
              <a:rPr lang="en-US" altLang="zh-CN" b="1" dirty="0"/>
              <a:t>A </a:t>
            </a:r>
            <a:r>
              <a:rPr lang="zh-CN" altLang="zh-CN" b="1" dirty="0"/>
              <a:t>寄存器地址；</a:t>
            </a:r>
            <a:r>
              <a:rPr lang="en-US" altLang="zh-CN" b="1" dirty="0"/>
              <a:t> $078003 </a:t>
            </a:r>
            <a:r>
              <a:rPr lang="zh-CN" altLang="zh-CN" b="1" dirty="0"/>
              <a:t>是输出</a:t>
            </a:r>
            <a:r>
              <a:rPr lang="en-US" altLang="zh-CN" b="1" dirty="0"/>
              <a:t> B </a:t>
            </a:r>
            <a:r>
              <a:rPr lang="zh-CN" altLang="zh-CN" b="1" dirty="0"/>
              <a:t>寄存器地址；</a:t>
            </a:r>
            <a:r>
              <a:rPr lang="en-US" altLang="zh-CN" b="1" dirty="0"/>
              <a:t> $078004 </a:t>
            </a:r>
            <a:r>
              <a:rPr lang="zh-CN" altLang="zh-CN" b="1" dirty="0"/>
              <a:t>是输出</a:t>
            </a:r>
            <a:r>
              <a:rPr lang="en-US" altLang="zh-CN" b="1" dirty="0"/>
              <a:t> C </a:t>
            </a:r>
            <a:r>
              <a:rPr lang="zh-CN" altLang="zh-CN" b="1" dirty="0"/>
              <a:t>寄存器地址（其他电机或者卡的地址请查阅软件手册）。</a:t>
            </a:r>
          </a:p>
        </p:txBody>
      </p:sp>
    </p:spTree>
    <p:extLst>
      <p:ext uri="{BB962C8B-B14F-4D97-AF65-F5344CB8AC3E}">
        <p14:creationId xmlns:p14="http://schemas.microsoft.com/office/powerpoint/2010/main" val="3353119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5" name="图片 38">
            <a:extLst>
              <a:ext uri="{FF2B5EF4-FFF2-40B4-BE49-F238E27FC236}">
                <a16:creationId xmlns:a16="http://schemas.microsoft.com/office/drawing/2014/main" id="{EFAEC478-658A-4522-A781-E516F5293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00" y="2575290"/>
            <a:ext cx="5002217" cy="135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CBFF822-599D-4817-B361-1EFFDC5F8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8" y="4572480"/>
            <a:ext cx="71305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所以， </a:t>
            </a:r>
            <a:r>
              <a:rPr lang="en-US" altLang="zh-CN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号电机是伺服交流电机，采用脉冲加方向的控制方式，那么在</a:t>
            </a:r>
            <a:r>
              <a:rPr lang="en-US" altLang="zh-CN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Terminal</a:t>
            </a:r>
            <a:r>
              <a:rPr lang="zh-CN" altLang="en-US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面板输入指令： </a:t>
            </a:r>
            <a:r>
              <a:rPr lang="en-US" altLang="zh-CN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I102 = $078002</a:t>
            </a:r>
            <a:r>
              <a:rPr lang="zh-CN" altLang="en-US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1" dirty="0" bmk="">
                <a:latin typeface="微软雅黑" panose="020B0503020204020204" pitchFamily="34" charset="-122"/>
                <a:ea typeface="微软雅黑" panose="020B0503020204020204" pitchFamily="34" charset="-122"/>
              </a:rPr>
              <a:t>I7016 = 0</a:t>
            </a:r>
            <a:r>
              <a:rPr lang="en-US" altLang="zh-CN" sz="1400" b="1" dirty="0" bmk="OLE_LINK52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EBA03F9-78D4-4334-90CB-6A53DEF1F8E4}"/>
              </a:ext>
            </a:extLst>
          </p:cNvPr>
          <p:cNvGrpSpPr/>
          <p:nvPr/>
        </p:nvGrpSpPr>
        <p:grpSpPr>
          <a:xfrm>
            <a:off x="650631" y="1503440"/>
            <a:ext cx="4120198" cy="760340"/>
            <a:chOff x="340258" y="1284256"/>
            <a:chExt cx="4120198" cy="76034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67A8ED6-E85E-467F-ADB2-98C03BA4F205}"/>
                </a:ext>
              </a:extLst>
            </p:cNvPr>
            <p:cNvSpPr txBox="1"/>
            <p:nvPr/>
          </p:nvSpPr>
          <p:spPr>
            <a:xfrm>
              <a:off x="380825" y="1626405"/>
              <a:ext cx="4079631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个伺服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IC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上第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通道输出模式选择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0C36F4F-EB82-45B2-8D81-B546480C70C9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74FE078-ABF7-41A2-9054-CF023B0F28DA}"/>
                </a:ext>
              </a:extLst>
            </p:cNvPr>
            <p:cNvSpPr/>
            <p:nvPr/>
          </p:nvSpPr>
          <p:spPr>
            <a:xfrm>
              <a:off x="340258" y="1284256"/>
              <a:ext cx="11528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I7mn6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5461877-EEE4-4BB3-804E-313FADE1FAAC}"/>
              </a:ext>
            </a:extLst>
          </p:cNvPr>
          <p:cNvSpPr/>
          <p:nvPr/>
        </p:nvSpPr>
        <p:spPr>
          <a:xfrm>
            <a:off x="187060" y="824134"/>
            <a:ext cx="89769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I7mn6 控制伺服 IC m 通道 n 的 A、B＆C 命令寄存器中产生什么类型的信号；</a:t>
            </a:r>
          </a:p>
          <a:p>
            <a:r>
              <a:rPr lang="zh-CN" altLang="en-US" dirty="0"/>
              <a:t>它必须设置为2或3使用C寄存器中的PFM信号。</a:t>
            </a:r>
          </a:p>
        </p:txBody>
      </p:sp>
    </p:spTree>
    <p:extLst>
      <p:ext uri="{BB962C8B-B14F-4D97-AF65-F5344CB8AC3E}">
        <p14:creationId xmlns:p14="http://schemas.microsoft.com/office/powerpoint/2010/main" val="2235987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屏蔽报警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1"/>
            <a:ext cx="8706875" cy="651836"/>
            <a:chOff x="380825" y="2972637"/>
            <a:chExt cx="3683992" cy="1025744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65807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	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屏蔽报警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面板输入指令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I125=$78000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I124=$120001</a:t>
              </a:r>
              <a:endParaRPr lang="zh-CN" altLang="en-US" sz="16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6204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开环测试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2"/>
            <a:ext cx="8706875" cy="651835"/>
            <a:chOff x="380825" y="2972637"/>
            <a:chExt cx="3683992" cy="102574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4"/>
              <a:ext cx="3652731" cy="65807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开环测试，从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Tool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Tuning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面板，电机打开开环测试。</a:t>
              </a:r>
              <a:endParaRPr lang="zh-CN" altLang="en-US" sz="16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A3164511-58D3-46D4-A8EE-F88C14909D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5051" y="2506002"/>
            <a:ext cx="5272218" cy="359585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839D972-B801-474B-9A91-8D2C19673D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80573" y="3520596"/>
            <a:ext cx="3649345" cy="309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5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3"/>
            <a:ext cx="8706875" cy="651835"/>
            <a:chOff x="380825" y="2972637"/>
            <a:chExt cx="3683992" cy="102574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4"/>
              <a:ext cx="3652731" cy="65807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INTER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，进行闭环调试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2049" name="图片 42">
            <a:extLst>
              <a:ext uri="{FF2B5EF4-FFF2-40B4-BE49-F238E27FC236}">
                <a16:creationId xmlns:a16="http://schemas.microsoft.com/office/drawing/2014/main" id="{D03BCE1F-A443-4A2F-A0FA-B250C6640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30" y="3059723"/>
            <a:ext cx="3802063" cy="279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5E335F6-C47E-4C1F-A500-782426860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30" y="58568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944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3"/>
            <a:ext cx="8706875" cy="651835"/>
            <a:chOff x="380825" y="2972637"/>
            <a:chExt cx="3683992" cy="102574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4"/>
              <a:ext cx="3652731" cy="65807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INTER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，进行闭环调试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B5E335F6-C47E-4C1F-A500-782426860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30" y="58568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783B3D8-7EE3-4389-BD78-60651A5B56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34845" y="2206942"/>
            <a:ext cx="527431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6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3"/>
            <a:ext cx="8706875" cy="651835"/>
            <a:chOff x="380825" y="2972637"/>
            <a:chExt cx="3683992" cy="102574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4"/>
              <a:ext cx="3652731" cy="65807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INTER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，进行闭环调试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B5E335F6-C47E-4C1F-A500-782426860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30" y="58568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190415-FF26-47E9-8890-D3A01F1FD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16" y="286622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可能出现的闭环图如下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图片 17">
            <a:extLst>
              <a:ext uri="{FF2B5EF4-FFF2-40B4-BE49-F238E27FC236}">
                <a16:creationId xmlns:a16="http://schemas.microsoft.com/office/drawing/2014/main" id="{037330D0-23DC-47D1-819C-9065DE73E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16" y="3323429"/>
            <a:ext cx="5273675" cy="229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903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3"/>
            <a:ext cx="8706875" cy="651835"/>
            <a:chOff x="380825" y="2972637"/>
            <a:chExt cx="3683992" cy="102574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4"/>
              <a:ext cx="3652731" cy="65807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INTER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，进行闭环调试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B5E335F6-C47E-4C1F-A500-782426860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30" y="58568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4474F15-897D-4849-969C-2212E6ED8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30" y="3965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为减小响应时间，增加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endParaRPr kumimoji="0" lang="en-US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1" name="图片 7">
            <a:extLst>
              <a:ext uri="{FF2B5EF4-FFF2-40B4-BE49-F238E27FC236}">
                <a16:creationId xmlns:a16="http://schemas.microsoft.com/office/drawing/2014/main" id="{2CA056FD-DFBB-492D-8C74-168F2D7F4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30" y="4438937"/>
            <a:ext cx="5280025" cy="195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E602725-A19C-4E83-B538-9A39737BF1DD}"/>
              </a:ext>
            </a:extLst>
          </p:cNvPr>
          <p:cNvSpPr/>
          <p:nvPr/>
        </p:nvSpPr>
        <p:spPr>
          <a:xfrm>
            <a:off x="1450731" y="1917462"/>
            <a:ext cx="66909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在运动程序或 PLC程序, 采集指令可如下使用:</a:t>
            </a:r>
          </a:p>
          <a:p>
            <a:r>
              <a:rPr lang="zh-CN" altLang="en-US" dirty="0"/>
              <a:t>COMMAND “DEFINE GATHER” CMD”DEF GAT”</a:t>
            </a:r>
          </a:p>
          <a:p>
            <a:r>
              <a:rPr lang="zh-CN" altLang="en-US" dirty="0"/>
              <a:t>COMMAND “GATHER” CMD”GAT”</a:t>
            </a:r>
          </a:p>
          <a:p>
            <a:r>
              <a:rPr lang="zh-CN" altLang="en-US" dirty="0"/>
              <a:t>COMMAND “END GATHER” CMD”ENDG”</a:t>
            </a:r>
          </a:p>
        </p:txBody>
      </p:sp>
    </p:spTree>
    <p:extLst>
      <p:ext uri="{BB962C8B-B14F-4D97-AF65-F5344CB8AC3E}">
        <p14:creationId xmlns:p14="http://schemas.microsoft.com/office/powerpoint/2010/main" val="808549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32DBA7-E3F5-414F-A62E-D0C2028E7DEE}"/>
              </a:ext>
            </a:extLst>
          </p:cNvPr>
          <p:cNvGrpSpPr/>
          <p:nvPr/>
        </p:nvGrpSpPr>
        <p:grpSpPr>
          <a:xfrm>
            <a:off x="135051" y="1139663"/>
            <a:ext cx="8706875" cy="651835"/>
            <a:chOff x="380825" y="2972637"/>
            <a:chExt cx="3683992" cy="102574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CBC8A0-BA7F-4819-AE7B-C1BCD7FACBEF}"/>
                </a:ext>
              </a:extLst>
            </p:cNvPr>
            <p:cNvSpPr txBox="1"/>
            <p:nvPr/>
          </p:nvSpPr>
          <p:spPr>
            <a:xfrm>
              <a:off x="380825" y="3340304"/>
              <a:ext cx="3652731" cy="65807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INTER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，进行闭环调试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A6A572-C7C5-472B-B62F-E9B1EB9E94D2}"/>
                </a:ext>
              </a:extLst>
            </p:cNvPr>
            <p:cNvSpPr/>
            <p:nvPr/>
          </p:nvSpPr>
          <p:spPr>
            <a:xfrm>
              <a:off x="3343421" y="29726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B5E335F6-C47E-4C1F-A500-782426860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30" y="58568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61D9D8-8ED0-4A22-ADDB-28D5FE40E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46" y="304245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最终数据也可从</a:t>
            </a:r>
            <a:r>
              <a:rPr kumimoji="0" lang="en-US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Congfigure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中打开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变量面板查看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5" name="图片 6">
            <a:extLst>
              <a:ext uri="{FF2B5EF4-FFF2-40B4-BE49-F238E27FC236}">
                <a16:creationId xmlns:a16="http://schemas.microsoft.com/office/drawing/2014/main" id="{EB57F45A-EBA4-44ED-8BDE-0CBE6AF18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87" y="4034856"/>
            <a:ext cx="8023456" cy="191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49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A2D7F4-BE5A-4F20-985C-8B8894213946}"/>
              </a:ext>
            </a:extLst>
          </p:cNvPr>
          <p:cNvSpPr/>
          <p:nvPr/>
        </p:nvSpPr>
        <p:spPr>
          <a:xfrm>
            <a:off x="2286000" y="-1049149"/>
            <a:ext cx="4572000" cy="895629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//PID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调的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I7101=*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I124=$120001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I100=1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I101=0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I102=$078004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I122=100//JOG Speed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I7106=3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I130=30500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I131=500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I132=30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I133=8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I134=1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I136=0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I137=0//PID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调的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I7101=*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I124=$120001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I100=1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I101=0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I102=$078004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I7106=3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I130=30500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I131=500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I132=30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I133=8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I134=1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I136=0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I137=0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I113=100000/*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正限位，关机地址*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I114=-100000/*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负限位*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37275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766E0A7-FAF3-45F8-A206-6E8244E9F407}"/>
              </a:ext>
            </a:extLst>
          </p:cNvPr>
          <p:cNvGrpSpPr/>
          <p:nvPr/>
        </p:nvGrpSpPr>
        <p:grpSpPr>
          <a:xfrm>
            <a:off x="283885" y="662485"/>
            <a:ext cx="5034491" cy="4714501"/>
            <a:chOff x="4954157" y="912393"/>
            <a:chExt cx="5034491" cy="4714501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2423023-348E-43A3-8E29-3B130CD3B6EA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4278094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/******1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号电机调试参数*********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注意：对于带 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$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赋值的变量，其他电机赋值不一样，需查手册*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/************$: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代表十六进制地址，故不一样***************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对于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Ixx00-Ixx99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xx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xx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号电机，如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号电机，则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I100=1*/</a:t>
              </a:r>
            </a:p>
            <a:p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Turbo PMAC2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卡全局变量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I7000=6527//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第 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个伺服片 芯片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(IC)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的最大相位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/PWM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频率控制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I7001=0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（默认值）第 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个伺服（ 芯片（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 ）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I7002=3//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（默认值）第 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个伺服（ 芯片（ 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 ）制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I10=3713991//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//I10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间 伺服中断时间</a:t>
              </a:r>
            </a:p>
            <a:p>
              <a:endParaRPr lang="zh-CN" altLang="en-US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让电机动作参数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I100=1//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激活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I101=0//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禁用换向</a:t>
              </a:r>
            </a:p>
            <a:p>
              <a:endParaRPr lang="zh-CN" altLang="en-US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注意：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I7mn0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 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代表芯片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，设为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即可，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代表电机，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则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号电机*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I7010=7//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（默认值）编码器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x4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 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倍）正交译码逆时针</a:t>
              </a:r>
            </a:p>
            <a:p>
              <a:endParaRPr lang="zh-CN" altLang="en-US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输出方式：重要！！！！！！！！！！！！！！！！！！！！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对于本驱动器驱动方式，，脉冲加方向信号，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PFM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输出，其他方式查手册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//I7016=3//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DAC,C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PFM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//I102=$078004//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（非非非默认值）选择通道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 </a:t>
              </a:r>
            </a:p>
            <a:p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I7016=3//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DAC,C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PFM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I102=$078004//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（非非非默认值）选择通道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 </a:t>
              </a:r>
            </a:p>
            <a:p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若屏蔽报警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;I124=$120001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;I125=$078000 //(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默认值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开启限位功能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I124=$100001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限位开关有效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I125=$078000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</a:p>
            <a:p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82BF1B8-95E6-49F5-A795-1C00285C318F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EDB0852-B11C-45DB-878C-7A8BB165C51B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DB57F2B-5BBB-4B09-A472-E07F4AF1C0C4}"/>
              </a:ext>
            </a:extLst>
          </p:cNvPr>
          <p:cNvGrpSpPr/>
          <p:nvPr/>
        </p:nvGrpSpPr>
        <p:grpSpPr>
          <a:xfrm>
            <a:off x="4684668" y="1098892"/>
            <a:ext cx="5034491" cy="3729616"/>
            <a:chOff x="4954157" y="912393"/>
            <a:chExt cx="5034491" cy="372961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E5CF8AC-8056-4209-9086-39B41B3292D5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3293209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endParaRPr lang="zh-CN" altLang="en-US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软件限位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I113=10000000/*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软件正限位*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I114=-10000000/*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软件负限位*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//PID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调试参数  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I130=10500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比例增益    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I131=500 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微分增益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I132=30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速度前馈增益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I133=10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积分增益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I134=1 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（默认值）位置误差积分器只有在没有运动运行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I135=0 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加速度前馈增益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I136=0	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I137=0 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</a:p>
            <a:p>
              <a:endParaRPr lang="zh-CN" altLang="en-US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手动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/home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速度曲线参数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I119=5//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最大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JOG/home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加速度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I120=25//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加速时间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I121=8//s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曲线时间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I122=20//JOG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I122=32//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（默认值）回零速度和方向</a:t>
              </a:r>
            </a:p>
            <a:p>
              <a:endParaRPr lang="zh-CN" altLang="en-US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给电机上电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变量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M114-&gt;X:$78005,14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指向，其他电机查手册</a:t>
              </a:r>
            </a:p>
            <a:p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M114=1  //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给电机上电</a:t>
              </a:r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FC711FB-F3D3-49EF-8BF8-C06C03204C52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662B2CF-A28C-40AF-9C98-D6AA3769EE8E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2667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06468"/>
              </p:ext>
            </p:extLst>
          </p:nvPr>
        </p:nvGraphicFramePr>
        <p:xfrm>
          <a:off x="0" y="1085777"/>
          <a:ext cx="9143999" cy="5116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854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2566666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2621428">
                  <a:extLst>
                    <a:ext uri="{9D8B030D-6E8A-4147-A177-3AD203B41FA5}">
                      <a16:colId xmlns:a16="http://schemas.microsoft.com/office/drawing/2014/main" val="1286381686"/>
                    </a:ext>
                  </a:extLst>
                </a:gridCol>
                <a:gridCol w="81705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命令输出地址：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Ixx02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PFM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命令输出地址：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6758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运动程序命令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运动程序命令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 PLC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程序控制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PMAC2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推荐的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电机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状态位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M133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647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1995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 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开始回零位置搜索运动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307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5579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J^*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J^*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偏置指令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319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38856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PMAC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技术培训（初级）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电机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Jog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13-1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手动移动控制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Ixx20</a:t>
                      </a:r>
                    </a:p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73319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59450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058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运行一个简单例程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F00E79-D417-41C4-921A-A115EDCFC52F}"/>
              </a:ext>
            </a:extLst>
          </p:cNvPr>
          <p:cNvSpPr/>
          <p:nvPr/>
        </p:nvSpPr>
        <p:spPr>
          <a:xfrm>
            <a:off x="172299" y="6164175"/>
            <a:ext cx="5034491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注意：点击下载按钮，是把参数设置段内容拷入缓存区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输入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&amp;1 B1 R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才运行程序主体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4935015" y="662984"/>
            <a:ext cx="5034491" cy="6776604"/>
            <a:chOff x="4954157" y="912393"/>
            <a:chExt cx="5034491" cy="677660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634019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/******1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号电机调试参数*********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注意：对于带 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$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赋值的变量，其他电机赋值不一样，需查手册*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/************$: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代表十六进制地址，故不一样***************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对于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Ixx00-Ixx99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xx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xx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号电机，如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号电机，则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I100=1*/</a:t>
              </a:r>
            </a:p>
            <a:p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Turbo PMAC2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卡全局变量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I7000=6527//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第 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个伺服片 芯片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(IC)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的最大相位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/PWM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频率控制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I7001=0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（默认值）第 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个伺服（ 芯片（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 ）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I7002=3//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（默认值）第 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个伺服（ 芯片（ 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 ）制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I10=3713991//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//I10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间 伺服中断时间</a:t>
              </a:r>
            </a:p>
            <a:p>
              <a:endParaRPr lang="zh-CN" altLang="en-US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让电机动作参数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I100=1//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激活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I101=0//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禁用换向</a:t>
              </a:r>
            </a:p>
            <a:p>
              <a:endParaRPr lang="zh-CN" altLang="en-US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注意：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I7mn0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 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代表芯片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，设为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即可，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代表电机，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则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号电机*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I7010=7//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（默认值）编码器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x4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 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倍）正交译码逆时针</a:t>
              </a:r>
            </a:p>
            <a:p>
              <a:endParaRPr lang="zh-CN" altLang="en-US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输出方式：重要！！！！！！！！！！！！！！！！！！！！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对于本驱动器驱动方式，，脉冲加方向信号，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PFM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输出，其他方式查手册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//I7016=3//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DAC,C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PFM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//I102=$078004//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（非非非默认值）选择通道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 </a:t>
              </a:r>
            </a:p>
            <a:p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I7016=3//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DAC,C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通道输出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PFM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I102=$078004//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（非非非默认值）选择通道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 </a:t>
              </a:r>
            </a:p>
            <a:p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若屏蔽报警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;I124=$120001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;I125=$078000 //(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默认值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开启限位功能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I124=$100001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限位开关有效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I125=$078000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</a:p>
            <a:p>
              <a:endParaRPr lang="zh-CN" altLang="en-US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软件限位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I113=10000000/*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软件正限位*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I114=-10000000/*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软件负限位*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//PID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调试参数  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I130=10500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比例增益    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I131=500 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微分增益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I132=30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速度前馈增益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I133=10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积分增益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I134=1 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（默认值）位置误差积分器只有在没有运动运行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I135=0 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加速度前馈增益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I136=0	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I137=0 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</a:t>
              </a:r>
            </a:p>
            <a:p>
              <a:endParaRPr lang="zh-CN" altLang="en-US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手动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/home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速度曲线参数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I119=5//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最大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JOG/home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加速度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I120=25//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加速时间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I121=8//s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曲线时间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I122=20//JOG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I122=32//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（默认值）回零速度和方向</a:t>
              </a:r>
            </a:p>
            <a:p>
              <a:endParaRPr lang="zh-CN" altLang="en-US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给电机上电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变量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M114-&gt;X:$78005,14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指向，其他电机查手册</a:t>
              </a:r>
            </a:p>
            <a:p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M114=1  //</a:t>
              </a:r>
              <a:r>
                <a: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给电机上电</a:t>
              </a:r>
              <a:endParaRPr lang="en-US" altLang="zh-CN" sz="7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A13B30E-A886-4735-8A4B-5C6A2635A11E}"/>
              </a:ext>
            </a:extLst>
          </p:cNvPr>
          <p:cNvGrpSpPr/>
          <p:nvPr/>
        </p:nvGrpSpPr>
        <p:grpSpPr>
          <a:xfrm>
            <a:off x="340258" y="1284256"/>
            <a:ext cx="4120198" cy="1499004"/>
            <a:chOff x="340258" y="1284256"/>
            <a:chExt cx="4120198" cy="149900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A712CC-FEC9-4B09-BCAE-060F160743CC}"/>
                </a:ext>
              </a:extLst>
            </p:cNvPr>
            <p:cNvSpPr txBox="1"/>
            <p:nvPr/>
          </p:nvSpPr>
          <p:spPr>
            <a:xfrm>
              <a:off x="380825" y="1626405"/>
              <a:ext cx="4079631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让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号工作台向正方向运动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，停止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1s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后，负方向运动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，运行前确认行程是否会碰撞。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143C29C-66AD-4C40-B2C1-8C1A320A5B64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D8D2E27-82B9-4841-9988-842D63688BE8}"/>
                </a:ext>
              </a:extLst>
            </p:cNvPr>
            <p:cNvSpPr/>
            <p:nvPr/>
          </p:nvSpPr>
          <p:spPr>
            <a:xfrm>
              <a:off x="340258" y="128425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例程目的</a:t>
              </a:r>
              <a:endParaRPr lang="zh-CN" altLang="en-US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80825" y="2636408"/>
            <a:ext cx="3790671" cy="1915563"/>
            <a:chOff x="380825" y="2950930"/>
            <a:chExt cx="3790671" cy="191556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 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B1 R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即可运行程序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450100" y="2950930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046B0C0B-DB45-4DE2-BF8B-39CD2B9AD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098"/>
          <a:stretch/>
        </p:blipFill>
        <p:spPr>
          <a:xfrm>
            <a:off x="253608" y="4859096"/>
            <a:ext cx="4288157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9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1748</Words>
  <Application>Microsoft Office PowerPoint</Application>
  <PresentationFormat>全屏显示(4:3)</PresentationFormat>
  <Paragraphs>303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等线</vt:lpstr>
      <vt:lpstr>等线 Light</vt:lpstr>
      <vt:lpstr>隶书</vt:lpstr>
      <vt:lpstr>宋体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Shaosen Wu</dc:creator>
  <cp:lastModifiedBy>Shaosen Wu</cp:lastModifiedBy>
  <cp:revision>20</cp:revision>
  <dcterms:created xsi:type="dcterms:W3CDTF">2019-07-19T11:35:20Z</dcterms:created>
  <dcterms:modified xsi:type="dcterms:W3CDTF">2019-07-20T14:43:34Z</dcterms:modified>
</cp:coreProperties>
</file>