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2" r:id="rId3"/>
    <p:sldId id="314" r:id="rId4"/>
    <p:sldId id="311" r:id="rId5"/>
    <p:sldId id="315" r:id="rId6"/>
    <p:sldId id="304" r:id="rId7"/>
    <p:sldId id="258" r:id="rId8"/>
    <p:sldId id="261" r:id="rId9"/>
    <p:sldId id="297" r:id="rId10"/>
    <p:sldId id="316" r:id="rId11"/>
    <p:sldId id="307" r:id="rId12"/>
    <p:sldId id="309" r:id="rId13"/>
    <p:sldId id="306" r:id="rId14"/>
    <p:sldId id="308" r:id="rId15"/>
    <p:sldId id="305" r:id="rId16"/>
    <p:sldId id="310" r:id="rId17"/>
    <p:sldId id="301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31112-B9CE-4B75-BE05-67B34C105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24FB4B-6DDC-40E4-B1F0-7F026AA32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CB3B5-BEA8-4221-AAB5-675C0415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A6327C-BBCA-48A2-BFB9-96120A3A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9A0C6F-AC05-4638-A2D4-E6F09E9E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54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0133A-2612-4C82-8D6E-96A23F06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1F1370-2528-4462-9E77-D64FBE3BD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F44B0-B85B-418E-95B3-6A0CD5CD5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1442D5-C2FD-4845-B0BF-369A3533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DEE77-8A2C-4549-B742-E1B1D5B6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74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D1C2A-473B-4B47-A071-98FB1AC8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018705-5A62-4B9E-92A7-F84D03BD9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620266-D552-45A3-B6BE-1FAD9C7E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713EA-E485-4AB1-BAAF-FC6FB712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38B0CF-33AE-4562-BE6B-56D7BF46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43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0E39D-EB35-4137-8477-020684EF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22DAC-E3CF-4505-972F-9147687D0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DE3742-0168-4BFC-870B-50608B88C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2220-3762-474B-A3B7-0B07CC5D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8FD40A-BDC4-4AD1-A613-4A742DC6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5B7062-B9ED-444A-B53B-91A4FA6C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96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15C41-FEA5-4C79-B20A-69A4DDBF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2A2231-C67A-45EF-AA25-8F0DA1CF0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32472B-5085-45E7-9A26-04110B575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91E1AE-2D71-41A6-940F-ACA393823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82986D-22E9-48A3-B6CE-C0F78A7E7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01A231-6D07-4C05-B718-28B1569C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3EEE04-BFD5-430A-946A-F9A0F636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0A6467-3CD9-49DC-9E65-99BE5299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0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83035-B083-4C67-B23D-7F34035E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27C1D4-9CF4-4CEB-A5FC-98B8D12F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ABE1BC-6445-4CF6-B603-4D457F40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1D586A-8388-42E0-927E-6EFE44BA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23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A205ED-DA70-4B17-B1E9-8A95B3F5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A59266-A994-4729-A12A-6758671C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471D9C-04DF-474E-AE73-6A16A698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93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61093-E668-45F3-B19F-D43CD0D9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035A7-1100-4D31-8A5E-2717822A0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FF0BC-8928-42C0-A828-EFC59F642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61A376-61D4-4250-957D-A63B1EEBD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3580B7-D805-4DD0-B162-FBAECD4A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F6783B-199A-4579-A42C-369FBA86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05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9A387-2FCA-48EB-9C75-A9B05EE7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EC8836-7137-4872-B636-04AB599F1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32BB5D-1EB9-45B5-8005-79A49F429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63130B-BB46-4716-8219-09D1CD2E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B62A30-B37B-40FE-85A5-E8ED5AF7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7BA235-37AB-40D1-BCA2-ECD4F963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10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7F190-2C59-4D5B-BBD3-B6ABA41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05D541-C904-46CD-B201-B52010CE5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EEB10E-C4EB-40FC-9090-DDB10E15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FA1368-0ECA-4E45-8315-453754EA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28B516-9861-4344-B697-DE607B40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07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09F15F-297D-41AB-93F5-7E27D7C63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49DD6B-7BD7-4E22-A1A1-F9C760AF1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BF61A-CAB0-4770-90C1-FA019ABD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83EF7-166F-4FAE-AB0A-DA6E96F4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FA3644-2092-4FA5-B9ED-1BD7C90F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06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FCEECB-D93E-478E-BE0F-2108D111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23C7D4-5272-49E2-8CB7-D53DDCA27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222187-DE77-447D-80D6-E391BB791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46C682-0077-4EC8-BAAD-64F19A0D1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A1C0E4-2434-4F27-8BA2-409192AEB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58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直线插补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658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直线插补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4161177" y="1264829"/>
            <a:ext cx="5264178" cy="4745287"/>
            <a:chOff x="4954157" y="912393"/>
            <a:chExt cx="5034491" cy="458357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4549658" cy="41471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;******************** Set-up and Definitions ********************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; Coordinate system 1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 ALL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; Make sure all buffers are closed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#1-&gt;1638.4X //; 1 unit (cm) of X is 1000 counts of motor 1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  #2-&gt;1638.4Y //; 1 unit (cm) of Y is 1000 counts of motor 2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;******************** Motion Program Text ***********************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3 	    ; Open buffer for entry, Program #2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CLEAR       	    ; Erase existing contents of buffer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LINEAR 	    ; Blended linear interpolation move mode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INC 	    ; Incremental mode - moves specified by distance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TA 500 	    ; 1/2 sec (500 </a:t>
              </a:r>
              <a:r>
                <a:rPr lang="en-US" altLang="zh-CN" sz="105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msec</a:t>
              </a:r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 acceleration time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TS 250 	    ; 1/4 sec in each half of S-curve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TM 2000 	    ; 2 sec move time (to start of </a:t>
              </a:r>
              <a:r>
                <a:rPr lang="en-US" altLang="zh-CN" sz="105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decel</a:t>
              </a:r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P1=1 	    ; Initialize a loop counter variable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WHILE (P1&lt;2)  ; Loop until condition is false (10 times)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X 10// Y 10	    ; Move X-axis 10 cm (=10,000 </a:t>
              </a:r>
              <a:r>
                <a:rPr lang="en-US" altLang="zh-CN" sz="105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cts</a:t>
              </a:r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 positive		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DWELL 500 	    ; Hold position for 1/2 sec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X -10 //Y -10	    ; Move X-axis back 10 cm negative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DWELL 500 	    ; Hold position for 1/2 sec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P1=P1+1 	    ; Increment loop counter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ENDWHILE 	    ; End of loop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COMMAND "END GATHER"  //COMMAND "ENDG" 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                 ; Close buffer - end of program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：来自中级培训手册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A46B737-5C50-4C6E-91DB-ADB7F3B957BA}"/>
              </a:ext>
            </a:extLst>
          </p:cNvPr>
          <p:cNvGrpSpPr/>
          <p:nvPr/>
        </p:nvGrpSpPr>
        <p:grpSpPr>
          <a:xfrm>
            <a:off x="172299" y="3800582"/>
            <a:ext cx="3756599" cy="1384851"/>
            <a:chOff x="380825" y="2979197"/>
            <a:chExt cx="3756599" cy="138485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D9EEC67-7449-42BA-8638-B3DC41A46B2D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023742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拷贝右边例程到程序中，点击下载按钮，查看面板提示下载状态，输入 </a:t>
              </a: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B3 R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运行程序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2BAF7D2-FE3D-4715-B704-D1B97163BD6D}"/>
                </a:ext>
              </a:extLst>
            </p:cNvPr>
            <p:cNvSpPr/>
            <p:nvPr/>
          </p:nvSpPr>
          <p:spPr>
            <a:xfrm>
              <a:off x="3312211" y="2979197"/>
              <a:ext cx="825213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DF57EA2-07B3-4019-B20B-EB4B83B7C174}"/>
              </a:ext>
            </a:extLst>
          </p:cNvPr>
          <p:cNvGrpSpPr/>
          <p:nvPr/>
        </p:nvGrpSpPr>
        <p:grpSpPr>
          <a:xfrm>
            <a:off x="197296" y="1577929"/>
            <a:ext cx="3602735" cy="1619018"/>
            <a:chOff x="340258" y="1284256"/>
            <a:chExt cx="4092196" cy="1198297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6BAAE3E-9B9E-49EE-9C75-88F263F95B21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85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本例介绍了移动的增量和时间规范，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循环逻辑，使用变量，轴的缩放和简单的算法。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3FC51F30-EDA9-4E06-ADEA-2915E3C8694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82D42AD-9A31-42B1-9FBC-7426E33CD223}"/>
                </a:ext>
              </a:extLst>
            </p:cNvPr>
            <p:cNvSpPr/>
            <p:nvPr/>
          </p:nvSpPr>
          <p:spPr>
            <a:xfrm>
              <a:off x="340258" y="1284256"/>
              <a:ext cx="1258526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例程介绍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DC28CD1-A0D8-4975-B84A-64C8AAEAAE47}"/>
              </a:ext>
            </a:extLst>
          </p:cNvPr>
          <p:cNvSpPr/>
          <p:nvPr/>
        </p:nvSpPr>
        <p:spPr>
          <a:xfrm>
            <a:off x="172299" y="971606"/>
            <a:ext cx="85435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对PMAC 用户直线插补是最通用的方式. 直线插补轨迹包括加减速时间和运动时间.</a:t>
            </a:r>
          </a:p>
        </p:txBody>
      </p:sp>
    </p:spTree>
    <p:extLst>
      <p:ext uri="{BB962C8B-B14F-4D97-AF65-F5344CB8AC3E}">
        <p14:creationId xmlns:p14="http://schemas.microsoft.com/office/powerpoint/2010/main" val="60490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26A63E8-E1E3-49EB-970F-76E5145606CC}"/>
              </a:ext>
            </a:extLst>
          </p:cNvPr>
          <p:cNvSpPr txBox="1"/>
          <p:nvPr/>
        </p:nvSpPr>
        <p:spPr>
          <a:xfrm>
            <a:off x="314436" y="1209060"/>
            <a:ext cx="6849316" cy="3372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可用在线指令采集数据：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DEFINE GATHER  (DEF GAT)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准备采集数据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GATHER  (GAT)                    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开始采集过程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GATHER (ENDG)          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的采集结束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在运动程序或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采集指令可如下使用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“DEFINE GATHER”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CMD”DEF GAT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“GATHER”        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CMD”GAT”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“END GATHER”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CMD”ENDG”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7C5F79C-97C3-472B-8397-87BCFF5CC76C}"/>
              </a:ext>
            </a:extLst>
          </p:cNvPr>
          <p:cNvGrpSpPr/>
          <p:nvPr/>
        </p:nvGrpSpPr>
        <p:grpSpPr>
          <a:xfrm>
            <a:off x="314436" y="4522794"/>
            <a:ext cx="3749676" cy="2047366"/>
            <a:chOff x="387748" y="2979197"/>
            <a:chExt cx="3749676" cy="2047366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CDC38F8-D3B1-4D98-A194-F14332D9E963}"/>
                </a:ext>
              </a:extLst>
            </p:cNvPr>
            <p:cNvSpPr txBox="1"/>
            <p:nvPr/>
          </p:nvSpPr>
          <p:spPr>
            <a:xfrm>
              <a:off x="387748" y="3356490"/>
              <a:ext cx="3652731" cy="167007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DEF GAT  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定义采集缓冲区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GAT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B3 R 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运行程序，开始收集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程序收集完成后，打开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Plot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作图如下页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180A7F1-7C0D-4773-A270-C2959509AFAD}"/>
                </a:ext>
              </a:extLst>
            </p:cNvPr>
            <p:cNvSpPr/>
            <p:nvPr/>
          </p:nvSpPr>
          <p:spPr>
            <a:xfrm>
              <a:off x="3312211" y="2979197"/>
              <a:ext cx="825213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102BE00C-3EED-4B80-9932-8CDFB3409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40" y="1243426"/>
            <a:ext cx="3198346" cy="296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2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收集图像验证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38414D-6329-41F2-A0E3-A9E67CFDF9F6}"/>
              </a:ext>
            </a:extLst>
          </p:cNvPr>
          <p:cNvSpPr/>
          <p:nvPr/>
        </p:nvSpPr>
        <p:spPr>
          <a:xfrm>
            <a:off x="458445" y="751169"/>
            <a:ext cx="66381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TA 500 	    ; 1/2 sec (500 </a:t>
            </a: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msec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) acceleration time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TS 250 	    ; 1/4 sec in each half of S-curve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TM 2000 	    ; 2 sec move time (to start of </a:t>
            </a: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decel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DWELL 500 	    ; Hold position for 1/2 sec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4AFC07F-D753-48F2-9DAB-EA2775DAF2A3}"/>
              </a:ext>
            </a:extLst>
          </p:cNvPr>
          <p:cNvGrpSpPr/>
          <p:nvPr/>
        </p:nvGrpSpPr>
        <p:grpSpPr>
          <a:xfrm>
            <a:off x="458445" y="1646009"/>
            <a:ext cx="7000875" cy="5210175"/>
            <a:chOff x="458445" y="1646009"/>
            <a:chExt cx="7000875" cy="5210175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77538377-7524-49E5-97F6-333D9E2825A4}"/>
                </a:ext>
              </a:extLst>
            </p:cNvPr>
            <p:cNvGrpSpPr/>
            <p:nvPr/>
          </p:nvGrpSpPr>
          <p:grpSpPr>
            <a:xfrm>
              <a:off x="458445" y="1646009"/>
              <a:ext cx="7000875" cy="5210175"/>
              <a:chOff x="458445" y="1646009"/>
              <a:chExt cx="7000875" cy="5210175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9CA70315-96C3-40F7-9090-51551527AB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8445" y="1646009"/>
                <a:ext cx="7000875" cy="5210175"/>
              </a:xfrm>
              <a:prstGeom prst="rect">
                <a:avLst/>
              </a:prstGeom>
            </p:spPr>
          </p:pic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87097EB0-C9DD-4A73-BFB3-637A4F6183DA}"/>
                  </a:ext>
                </a:extLst>
              </p:cNvPr>
              <p:cNvGrpSpPr/>
              <p:nvPr/>
            </p:nvGrpSpPr>
            <p:grpSpPr>
              <a:xfrm>
                <a:off x="1230922" y="2611315"/>
                <a:ext cx="2069122" cy="545124"/>
                <a:chOff x="1230922" y="2611315"/>
                <a:chExt cx="2069122" cy="545124"/>
              </a:xfrm>
            </p:grpSpPr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906DCC3D-7A99-4FFB-BBDD-B35F983E65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56238" y="2611315"/>
                  <a:ext cx="0" cy="54512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2D7F87BC-4075-49BD-894E-D167A8BDC5BD}"/>
                    </a:ext>
                  </a:extLst>
                </p:cNvPr>
                <p:cNvCxnSpPr/>
                <p:nvPr/>
              </p:nvCxnSpPr>
              <p:spPr>
                <a:xfrm flipV="1">
                  <a:off x="1230922" y="2611315"/>
                  <a:ext cx="0" cy="5451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2E070052-7C76-449A-8183-41C01416B2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9715" y="2857500"/>
                  <a:ext cx="342900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6F01BFEB-C8EC-42EF-A405-76C28F087C0B}"/>
                    </a:ext>
                  </a:extLst>
                </p:cNvPr>
                <p:cNvCxnSpPr/>
                <p:nvPr/>
              </p:nvCxnSpPr>
              <p:spPr>
                <a:xfrm flipV="1">
                  <a:off x="2939561" y="2611315"/>
                  <a:ext cx="0" cy="5451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7C8BEFE2-3FDF-48CD-AED3-B756863773C1}"/>
                    </a:ext>
                  </a:extLst>
                </p:cNvPr>
                <p:cNvCxnSpPr/>
                <p:nvPr/>
              </p:nvCxnSpPr>
              <p:spPr>
                <a:xfrm flipV="1">
                  <a:off x="2614245" y="2611315"/>
                  <a:ext cx="0" cy="5451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箭头连接符 21">
                  <a:extLst>
                    <a:ext uri="{FF2B5EF4-FFF2-40B4-BE49-F238E27FC236}">
                      <a16:creationId xmlns:a16="http://schemas.microsoft.com/office/drawing/2014/main" id="{D68F3724-F4AB-4AED-84A5-61C6B6CD57C5}"/>
                    </a:ext>
                  </a:extLst>
                </p:cNvPr>
                <p:cNvCxnSpPr/>
                <p:nvPr/>
              </p:nvCxnSpPr>
              <p:spPr>
                <a:xfrm>
                  <a:off x="2623038" y="2857500"/>
                  <a:ext cx="316523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772524C7-6BF3-409D-BDDC-ED52DBC1D271}"/>
                    </a:ext>
                  </a:extLst>
                </p:cNvPr>
                <p:cNvCxnSpPr/>
                <p:nvPr/>
              </p:nvCxnSpPr>
              <p:spPr>
                <a:xfrm flipV="1">
                  <a:off x="3300044" y="2611315"/>
                  <a:ext cx="0" cy="5451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>
                  <a:extLst>
                    <a:ext uri="{FF2B5EF4-FFF2-40B4-BE49-F238E27FC236}">
                      <a16:creationId xmlns:a16="http://schemas.microsoft.com/office/drawing/2014/main" id="{2DB0AFA5-1844-4BAF-95A4-D58FC85DFDC2}"/>
                    </a:ext>
                  </a:extLst>
                </p:cNvPr>
                <p:cNvCxnSpPr/>
                <p:nvPr/>
              </p:nvCxnSpPr>
              <p:spPr>
                <a:xfrm>
                  <a:off x="2983521" y="2857500"/>
                  <a:ext cx="316523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8BFAA2DE-619F-4305-A2FD-7A66A4A24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82615" y="2857500"/>
                  <a:ext cx="1040423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8656360-FF60-437B-83BA-133A0A6AEAB5}"/>
                </a:ext>
              </a:extLst>
            </p:cNvPr>
            <p:cNvSpPr/>
            <p:nvPr/>
          </p:nvSpPr>
          <p:spPr>
            <a:xfrm>
              <a:off x="1147398" y="2390842"/>
              <a:ext cx="527533" cy="26642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2</a:t>
              </a:r>
              <a:r>
                <a:rPr lang="zh-CN" altLang="en-US" sz="1200" dirty="0"/>
                <a:t>*</a:t>
              </a:r>
              <a:r>
                <a:rPr lang="en-US" altLang="zh-CN" sz="1200" dirty="0"/>
                <a:t>TS</a:t>
              </a:r>
              <a:endParaRPr lang="zh-CN" altLang="en-US" sz="12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E3EEE54-F234-4261-A196-F8DD2831CD61}"/>
                </a:ext>
              </a:extLst>
            </p:cNvPr>
            <p:cNvSpPr/>
            <p:nvPr/>
          </p:nvSpPr>
          <p:spPr>
            <a:xfrm>
              <a:off x="1844926" y="2400976"/>
              <a:ext cx="527533" cy="26642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TM</a:t>
              </a:r>
              <a:endParaRPr lang="zh-CN" altLang="en-US" sz="12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CFD87C0-624E-4C7C-844B-3BCEC5C63483}"/>
                </a:ext>
              </a:extLst>
            </p:cNvPr>
            <p:cNvSpPr/>
            <p:nvPr/>
          </p:nvSpPr>
          <p:spPr>
            <a:xfrm>
              <a:off x="2517532" y="2400976"/>
              <a:ext cx="527533" cy="26642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2</a:t>
              </a:r>
              <a:r>
                <a:rPr lang="zh-CN" altLang="en-US" sz="1200" dirty="0"/>
                <a:t>*</a:t>
              </a:r>
              <a:r>
                <a:rPr lang="en-US" altLang="zh-CN" sz="1200" dirty="0"/>
                <a:t>Ts</a:t>
              </a:r>
              <a:endParaRPr lang="zh-CN" altLang="en-US" sz="1200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3FC7B74-400B-46A8-81EE-7C51A15F421B}"/>
                </a:ext>
              </a:extLst>
            </p:cNvPr>
            <p:cNvSpPr/>
            <p:nvPr/>
          </p:nvSpPr>
          <p:spPr>
            <a:xfrm>
              <a:off x="3067530" y="2386046"/>
              <a:ext cx="527533" cy="26642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DWELL</a:t>
              </a:r>
              <a:endParaRPr lang="zh-CN" altLang="en-US" sz="800" dirty="0"/>
            </a:p>
          </p:txBody>
        </p:sp>
      </p:grp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21467E9-7043-4BE2-9C69-D5A888B3F818}"/>
              </a:ext>
            </a:extLst>
          </p:cNvPr>
          <p:cNvCxnSpPr>
            <a:cxnSpLocks/>
          </p:cNvCxnSpPr>
          <p:nvPr/>
        </p:nvCxnSpPr>
        <p:spPr>
          <a:xfrm flipV="1">
            <a:off x="3300044" y="6311060"/>
            <a:ext cx="0" cy="545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E1BCB84-C0BB-4A78-AAEE-81A097ED00BB}"/>
              </a:ext>
            </a:extLst>
          </p:cNvPr>
          <p:cNvCxnSpPr>
            <a:cxnSpLocks/>
          </p:cNvCxnSpPr>
          <p:nvPr/>
        </p:nvCxnSpPr>
        <p:spPr>
          <a:xfrm flipV="1">
            <a:off x="1230922" y="6428291"/>
            <a:ext cx="0" cy="545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D002E55-CB31-4614-BA6D-F4809711FA6D}"/>
              </a:ext>
            </a:extLst>
          </p:cNvPr>
          <p:cNvCxnSpPr>
            <a:cxnSpLocks/>
          </p:cNvCxnSpPr>
          <p:nvPr/>
        </p:nvCxnSpPr>
        <p:spPr>
          <a:xfrm>
            <a:off x="1239715" y="6551383"/>
            <a:ext cx="20603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B9C8174C-90EB-4EE7-8779-212C20CC6E81}"/>
              </a:ext>
            </a:extLst>
          </p:cNvPr>
          <p:cNvSpPr/>
          <p:nvPr/>
        </p:nvSpPr>
        <p:spPr>
          <a:xfrm>
            <a:off x="1989999" y="6210370"/>
            <a:ext cx="527533" cy="2664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3S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1504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圆弧插补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9B3D153-8EDE-4684-A195-062498B3A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24900"/>
              </p:ext>
            </p:extLst>
          </p:nvPr>
        </p:nvGraphicFramePr>
        <p:xfrm>
          <a:off x="3453354" y="4659678"/>
          <a:ext cx="5618285" cy="1034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585">
                  <a:extLst>
                    <a:ext uri="{9D8B030D-6E8A-4147-A177-3AD203B41FA5}">
                      <a16:colId xmlns:a16="http://schemas.microsoft.com/office/drawing/2014/main" val="515959649"/>
                    </a:ext>
                  </a:extLst>
                </a:gridCol>
                <a:gridCol w="1577019">
                  <a:extLst>
                    <a:ext uri="{9D8B030D-6E8A-4147-A177-3AD203B41FA5}">
                      <a16:colId xmlns:a16="http://schemas.microsoft.com/office/drawing/2014/main" val="1756676298"/>
                    </a:ext>
                  </a:extLst>
                </a:gridCol>
                <a:gridCol w="1220261">
                  <a:extLst>
                    <a:ext uri="{9D8B030D-6E8A-4147-A177-3AD203B41FA5}">
                      <a16:colId xmlns:a16="http://schemas.microsoft.com/office/drawing/2014/main" val="3238494751"/>
                    </a:ext>
                  </a:extLst>
                </a:gridCol>
                <a:gridCol w="892420">
                  <a:extLst>
                    <a:ext uri="{9D8B030D-6E8A-4147-A177-3AD203B41FA5}">
                      <a16:colId xmlns:a16="http://schemas.microsoft.com/office/drawing/2014/main" val="2540605889"/>
                    </a:ext>
                  </a:extLst>
                </a:gridCol>
              </a:tblGrid>
              <a:tr h="3762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246497"/>
                  </a:ext>
                </a:extLst>
              </a:tr>
              <a:tr h="658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16-8 </a:t>
                      </a:r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圆弧混合运动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圆弧插补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</a:t>
                      </a:r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096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87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ED7ACFB-249F-4B30-8D42-7979800C24EF}"/>
              </a:ext>
            </a:extLst>
          </p:cNvPr>
          <p:cNvGrpSpPr/>
          <p:nvPr/>
        </p:nvGrpSpPr>
        <p:grpSpPr>
          <a:xfrm>
            <a:off x="314436" y="1230727"/>
            <a:ext cx="5196254" cy="1108495"/>
            <a:chOff x="340258" y="1284256"/>
            <a:chExt cx="4092196" cy="82043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6A63E8-E1E3-49EB-970F-76E5145606C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478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分段模式下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的一般设定值为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到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毫秒。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的值越小，与真实曲线的契合度就越高，但是，运动所需计算越多，后台任务可用的就越少。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号电机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I5113=10//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5AFCF40-45E4-4009-9184-76F8EF519A0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478D4E6-A6A3-40AE-BDB1-992407FCF99B}"/>
                </a:ext>
              </a:extLst>
            </p:cNvPr>
            <p:cNvSpPr/>
            <p:nvPr/>
          </p:nvSpPr>
          <p:spPr>
            <a:xfrm>
              <a:off x="340258" y="1284256"/>
              <a:ext cx="2222094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坐标系 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分段时间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F8D0D2F-4E19-42E3-97EF-7A5DE04028B0}"/>
              </a:ext>
            </a:extLst>
          </p:cNvPr>
          <p:cNvGrpSpPr/>
          <p:nvPr/>
        </p:nvGrpSpPr>
        <p:grpSpPr>
          <a:xfrm>
            <a:off x="330391" y="2383573"/>
            <a:ext cx="5196254" cy="739163"/>
            <a:chOff x="340258" y="1284256"/>
            <a:chExt cx="4092196" cy="547083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E802499-E921-41CE-872A-8552E7511086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205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要指定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XY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平面上的圆弧，命令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NORMAL K-1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（等价于机床代码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54683FE-7D7C-4674-BB6F-3029B501239D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3585ED7-4B41-402C-83D9-22CC5D39F595}"/>
                </a:ext>
              </a:extLst>
            </p:cNvPr>
            <p:cNvSpPr/>
            <p:nvPr/>
          </p:nvSpPr>
          <p:spPr>
            <a:xfrm>
              <a:off x="340258" y="1284256"/>
              <a:ext cx="1236151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指定插补平面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E4FEF12-D624-4266-B3ED-790ED2FE6E29}"/>
              </a:ext>
            </a:extLst>
          </p:cNvPr>
          <p:cNvGrpSpPr/>
          <p:nvPr/>
        </p:nvGrpSpPr>
        <p:grpSpPr>
          <a:xfrm>
            <a:off x="338368" y="3351753"/>
            <a:ext cx="5196254" cy="923828"/>
            <a:chOff x="340258" y="1284256"/>
            <a:chExt cx="4092196" cy="683761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3AD2C32-0233-4E2A-A2F8-0D2F3A46C1D5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341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CIRCLE1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用于顺时针圆弧（等价于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G02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）或者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CIRCLE2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用于逆时针圆弧（等价于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G03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E8F2EB4-5431-47D3-9664-7109449DD289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F225D14-DE81-4DFC-864E-2FB2AF897947}"/>
                </a:ext>
              </a:extLst>
            </p:cNvPr>
            <p:cNvSpPr/>
            <p:nvPr/>
          </p:nvSpPr>
          <p:spPr>
            <a:xfrm>
              <a:off x="340258" y="1284256"/>
              <a:ext cx="872578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圆弧方向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5636A856-1A7C-4000-9149-D60658307963}"/>
              </a:ext>
            </a:extLst>
          </p:cNvPr>
          <p:cNvSpPr/>
          <p:nvPr/>
        </p:nvSpPr>
        <p:spPr>
          <a:xfrm>
            <a:off x="228600" y="6394519"/>
            <a:ext cx="7112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坐标系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Isx11-Isx99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：对于坐标系 1—9，s 等于 5，x 等于坐标系号；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对于坐标系 10—16，s等于 6，x 等于坐标系号减去 10。</a:t>
            </a:r>
          </a:p>
        </p:txBody>
      </p:sp>
    </p:spTree>
    <p:extLst>
      <p:ext uri="{BB962C8B-B14F-4D97-AF65-F5344CB8AC3E}">
        <p14:creationId xmlns:p14="http://schemas.microsoft.com/office/powerpoint/2010/main" val="17571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规划路径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559A26F-7298-44DA-9771-482282A641D5}"/>
              </a:ext>
            </a:extLst>
          </p:cNvPr>
          <p:cNvCxnSpPr/>
          <p:nvPr/>
        </p:nvCxnSpPr>
        <p:spPr>
          <a:xfrm>
            <a:off x="782515" y="3112477"/>
            <a:ext cx="33762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F5B93E8-77E0-410E-81F3-46ED32FF04B8}"/>
              </a:ext>
            </a:extLst>
          </p:cNvPr>
          <p:cNvCxnSpPr/>
          <p:nvPr/>
        </p:nvCxnSpPr>
        <p:spPr>
          <a:xfrm flipV="1">
            <a:off x="2391507" y="1424354"/>
            <a:ext cx="0" cy="3253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AB87E309-1485-4E18-906D-ADF34C6FEFFF}"/>
              </a:ext>
            </a:extLst>
          </p:cNvPr>
          <p:cNvSpPr/>
          <p:nvPr/>
        </p:nvSpPr>
        <p:spPr>
          <a:xfrm>
            <a:off x="1824403" y="1978269"/>
            <a:ext cx="1134208" cy="113420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C8B4741-9C31-4A15-B664-825519BF9D19}"/>
              </a:ext>
            </a:extLst>
          </p:cNvPr>
          <p:cNvCxnSpPr>
            <a:cxnSpLocks/>
            <a:endCxn id="17" idx="7"/>
          </p:cNvCxnSpPr>
          <p:nvPr/>
        </p:nvCxnSpPr>
        <p:spPr>
          <a:xfrm>
            <a:off x="2634688" y="2039815"/>
            <a:ext cx="157822" cy="104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49A11861-5630-4997-ABB2-EA0DFC0B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977" y="2347545"/>
            <a:ext cx="4183582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3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圆弧插补例程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538861" y="1375160"/>
            <a:ext cx="8824947" cy="3745005"/>
            <a:chOff x="4954157" y="912393"/>
            <a:chExt cx="5034491" cy="374500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3308598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2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ALL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 GAT//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i117=1 //#1 max acceleration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i116=10 //max program velocity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i217=1 // #2 max acceleration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i216=10 //max program velocity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i5113 = 10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粗插补时间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#1-&gt;1638.4X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#2-&gt;1638.4Y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5 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"DEL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"DEF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定义收集缓冲区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开始采集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RAPID X 0 Y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快速回到原点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6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限制最大速度， 对于这程序是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6*1638.4 </a:t>
              </a:r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cts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每秒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NORMAL K -1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ABS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绝对式坐标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CIRCLE1 X 0 Y 0 I 0 J 10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//CIRCLE1 X ( 10*sqrt(3)/2 ) Y 5 I ( -10*sqrt(3)/2 ) J 5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//CIRCLE1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顺时针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X ( 10*sqrt(3)/2 ) Y 5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是终点坐标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 ( -10*sqrt(3)/2 ) J 5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是起点到圆心的向量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LINEAR ABS TM 100 X 0 Y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为保证运动的实时性，控制卡会提前“看”几步，比如下一句没有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的话，控制器会提前看到“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gat”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有可能这时候电机还在走运动，但是已经提前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，导致没采完数据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防止过早停止采集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"END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  <a:p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例程：参考泰道中国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技术支持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运动程序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直线圆弧运动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8906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圆弧插补数据采集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BE6A1A-7774-498E-ACB6-FC9555604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13" y="1614678"/>
            <a:ext cx="4836502" cy="514179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D7FF8B8-CB26-49D4-AD6E-01458367BC3C}"/>
              </a:ext>
            </a:extLst>
          </p:cNvPr>
          <p:cNvSpPr txBox="1"/>
          <p:nvPr/>
        </p:nvSpPr>
        <p:spPr>
          <a:xfrm>
            <a:off x="445950" y="846246"/>
            <a:ext cx="8134202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Tools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PLOT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数据采集软件，纵坐标选择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电机位置，横坐标选择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号电机位置。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25D12C-6296-4BBC-8437-5C58000DC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75" y="2751992"/>
            <a:ext cx="3339120" cy="321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44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附录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4729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运动程序命令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SRM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87424E-F087-418F-96F3-6B2F7217BC68}"/>
              </a:ext>
            </a:extLst>
          </p:cNvPr>
          <p:cNvGrpSpPr/>
          <p:nvPr/>
        </p:nvGrpSpPr>
        <p:grpSpPr>
          <a:xfrm>
            <a:off x="257661" y="1175630"/>
            <a:ext cx="8772040" cy="5040597"/>
            <a:chOff x="340258" y="1284256"/>
            <a:chExt cx="4517856" cy="373074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8D8EABF-B9C2-405E-9F55-C0A88C64D21C}"/>
                </a:ext>
              </a:extLst>
            </p:cNvPr>
            <p:cNvSpPr txBox="1"/>
            <p:nvPr/>
          </p:nvSpPr>
          <p:spPr>
            <a:xfrm>
              <a:off x="352823" y="1626321"/>
              <a:ext cx="4505291" cy="3388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{axis}{data}[{axis}{data}]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简单的运动声明，可以在线性、快速和样条模式下使用 例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X1000  Y(P1)  Z(P2*P3)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{axis}{data}:{data}[{axis}{data}:{data}...]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位置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速度运动声明，只能在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PVT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模式下使用 例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X5000:750 Y3500:(P3) A(P5+P6):100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{axis}{data}^{data}[{axis}{data}^{data}...]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运动直到触发，只在快速模式下使用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{axis}{data}[{axis}{data}...][{vector}{data}...]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圆弧运动声明，只在圆形插补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(CIRCLE)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模式下使用，向量是指向圆心的例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X2000 Y3000 Z1000 I500 J300 K500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{axis}{data}[{axis}{data}...] R{data} --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圆弧运动声明，只在圆形插补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(CIRCLE)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模式下使用，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值是半径大小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例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X2000 Y3000 Z1000 R500</a:t>
              </a:r>
            </a:p>
            <a:p>
              <a:pPr>
                <a:lnSpc>
                  <a:spcPct val="150000"/>
                </a:lnSpc>
              </a:pP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DWELL{data}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零距离声明，固定时基。如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DWELL 500 //Hold position for 1/2 sec</a:t>
              </a:r>
              <a:endPara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DELAY{data}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零距离声明，变时基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HOME{constant}[,{constant}...]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让指定电机返回零位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HOMEZ{constant}[,{constant}...]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让指定电机的当前位置为零位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03BA9CE-3B07-4F47-B946-B345C9145BD4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49087-41A8-4A42-A8C2-2A5FDAAEF629}"/>
                </a:ext>
              </a:extLst>
            </p:cNvPr>
            <p:cNvSpPr/>
            <p:nvPr/>
          </p:nvSpPr>
          <p:spPr>
            <a:xfrm>
              <a:off x="340258" y="1284256"/>
              <a:ext cx="570650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运动命令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1510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运动程序命令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SRM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87424E-F087-418F-96F3-6B2F7217BC68}"/>
              </a:ext>
            </a:extLst>
          </p:cNvPr>
          <p:cNvGrpSpPr/>
          <p:nvPr/>
        </p:nvGrpSpPr>
        <p:grpSpPr>
          <a:xfrm>
            <a:off x="257661" y="1175630"/>
            <a:ext cx="8024693" cy="4394265"/>
            <a:chOff x="340258" y="1284256"/>
            <a:chExt cx="4092196" cy="325236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8D8EABF-B9C2-405E-9F55-C0A88C64D21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2910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N{constant}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行标；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O{constant}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可变的行标；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GOTO{data}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跳到指定的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N-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标志的行，不返回；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GOSUB{data}[{letter}{axis}...]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跳到指定的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N-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标志的行（带参数）并返回；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IF ({condition}){action}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符合条件则执行动作；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IF ({condition})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符合条件则执行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IF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语句以下的部分；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ELSE {action} – IF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语句中，如符合前面的“假”的条件则执行动作；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ELSE –- IF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语句中，符合前面的“假”的条件时则执行动作；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ENDIF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结束条件语句的执行；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WHILE ({condition}){action}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则反复执行；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WHILE ({condition})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只要条件为真，则执行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WHILE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语句以下的部分；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ENDWHILE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结束循环语句的声明；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03BA9CE-3B07-4F47-B946-B345C9145BD4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49087-41A8-4A42-A8C2-2A5FDAAEF629}"/>
                </a:ext>
              </a:extLst>
            </p:cNvPr>
            <p:cNvSpPr/>
            <p:nvPr/>
          </p:nvSpPr>
          <p:spPr>
            <a:xfrm>
              <a:off x="340258" y="1284256"/>
              <a:ext cx="1066519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程序逻辑控制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0080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9" y="0"/>
              <a:ext cx="1844921" cy="476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3" y="414336"/>
              <a:ext cx="2048610" cy="317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运动程序命令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来源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SRM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16C1129-0921-4F5A-BE16-78BC3AC46D68}"/>
              </a:ext>
            </a:extLst>
          </p:cNvPr>
          <p:cNvGrpSpPr/>
          <p:nvPr/>
        </p:nvGrpSpPr>
        <p:grpSpPr>
          <a:xfrm>
            <a:off x="276154" y="4609906"/>
            <a:ext cx="6022731" cy="2062601"/>
            <a:chOff x="340258" y="1284256"/>
            <a:chExt cx="4092196" cy="1526610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28F1F69-510D-47EB-9B34-DF6CE3A4E722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18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LINEAR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混合线性插补运动模式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RAPID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最小时间点到点运动模式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快速模式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CIRCLE1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顺时针圆形插补运动模式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CIRCLE2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逆时针圆形插补运动模式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PVT{data}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位置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速度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时间运动模式（二次速度曲线）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SPLINE1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均匀的三次样条运动模式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SPLINE2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非均匀的三次样条运动模式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8F029B3-104A-4ABE-B5CC-EA03E0C600A0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D797CE0-3D17-4615-87B0-7FC5603BF549}"/>
                </a:ext>
              </a:extLst>
            </p:cNvPr>
            <p:cNvSpPr/>
            <p:nvPr/>
          </p:nvSpPr>
          <p:spPr>
            <a:xfrm>
              <a:off x="340258" y="1284256"/>
              <a:ext cx="1066519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运动模式命令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87424E-F087-418F-96F3-6B2F7217BC68}"/>
              </a:ext>
            </a:extLst>
          </p:cNvPr>
          <p:cNvGrpSpPr/>
          <p:nvPr/>
        </p:nvGrpSpPr>
        <p:grpSpPr>
          <a:xfrm>
            <a:off x="257661" y="1175630"/>
            <a:ext cx="6022731" cy="985383"/>
            <a:chOff x="340258" y="1284256"/>
            <a:chExt cx="4092196" cy="72932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8D8EABF-B9C2-405E-9F55-C0A88C64D21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387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ABS [({axis}[,{axis},...])]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让所有（或者是指定的）轴处于绝对运动模式下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INC [({axis}[,{axis},...])]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让所有（或者是指定的）轴处于增量运动模式下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03BA9CE-3B07-4F47-B946-B345C9145BD4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49087-41A8-4A42-A8C2-2A5FDAAEF629}"/>
                </a:ext>
              </a:extLst>
            </p:cNvPr>
            <p:cNvSpPr/>
            <p:nvPr/>
          </p:nvSpPr>
          <p:spPr>
            <a:xfrm>
              <a:off x="340258" y="1284256"/>
              <a:ext cx="909678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轴特征命令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C7FD2A-C7F3-4D02-A1FC-DE9237A1F5E3}"/>
              </a:ext>
            </a:extLst>
          </p:cNvPr>
          <p:cNvGrpSpPr/>
          <p:nvPr/>
        </p:nvGrpSpPr>
        <p:grpSpPr>
          <a:xfrm>
            <a:off x="228600" y="2862324"/>
            <a:ext cx="6022731" cy="1416270"/>
            <a:chOff x="340258" y="1284256"/>
            <a:chExt cx="4092196" cy="1048236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6DB6561-20AF-44B8-888B-50804A735C5E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706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TM{data}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指定运动时间（模态的）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指定运动速度（模态的）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TA{data}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指定运动加速时间（模态的）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TS{data}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指定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S-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曲线加速时间（模态的）</a:t>
              </a:r>
              <a:endPara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161B862-EA62-47F0-BE61-080E6A232AF5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D10E455-3B33-4434-A4BF-6F3219EC2ED4}"/>
                </a:ext>
              </a:extLst>
            </p:cNvPr>
            <p:cNvSpPr/>
            <p:nvPr/>
          </p:nvSpPr>
          <p:spPr>
            <a:xfrm>
              <a:off x="340258" y="1284256"/>
              <a:ext cx="1066519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运动特征命令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EB6DD2A0-4ADF-427C-B19E-8C6E01D53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351" y="2629840"/>
            <a:ext cx="3943770" cy="234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8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9" y="0"/>
              <a:ext cx="1844921" cy="476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3" y="414336"/>
              <a:ext cx="2048610" cy="317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坐标系 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来源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SRM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791495-0666-464D-BF00-8907452FDBE4}"/>
              </a:ext>
            </a:extLst>
          </p:cNvPr>
          <p:cNvSpPr/>
          <p:nvPr/>
        </p:nvSpPr>
        <p:spPr>
          <a:xfrm>
            <a:off x="65907" y="6516776"/>
            <a:ext cx="90780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Ixx20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Ixx21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的区别。前者作用范围为坐标系中，后者为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JOG/HOME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7CE285-B724-4590-8559-9C48DD64A7D9}"/>
              </a:ext>
            </a:extLst>
          </p:cNvPr>
          <p:cNvSpPr/>
          <p:nvPr/>
        </p:nvSpPr>
        <p:spPr>
          <a:xfrm>
            <a:off x="405466" y="1046459"/>
            <a:ext cx="7112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对于坐标系 1—9，s 等于 5，x 等于坐标系号；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对于坐标系 10—16，s等于 6，x 等于坐标系号减去 10。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3A15358-E128-47CA-B4FD-6C5BFF575C76}"/>
              </a:ext>
            </a:extLst>
          </p:cNvPr>
          <p:cNvGrpSpPr/>
          <p:nvPr/>
        </p:nvGrpSpPr>
        <p:grpSpPr>
          <a:xfrm>
            <a:off x="405466" y="2167737"/>
            <a:ext cx="6004238" cy="1855665"/>
            <a:chOff x="343920" y="1344205"/>
            <a:chExt cx="6004238" cy="1855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B16F055-BF63-42F7-8045-FF616DF385D0}"/>
                </a:ext>
              </a:extLst>
            </p:cNvPr>
            <p:cNvSpPr/>
            <p:nvPr/>
          </p:nvSpPr>
          <p:spPr>
            <a:xfrm>
              <a:off x="411261" y="1999541"/>
              <a:ext cx="593689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TA——Isx87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坐标系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默认程序加速时间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TS——Isx88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坐标系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默认程编程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曲线加速时间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F/TM——Isx89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坐标系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默认率程序进给率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运动时间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A01BAD5-1EE7-4B28-BBC5-45AE15E5CD3B}"/>
                </a:ext>
              </a:extLst>
            </p:cNvPr>
            <p:cNvSpPr/>
            <p:nvPr/>
          </p:nvSpPr>
          <p:spPr>
            <a:xfrm>
              <a:off x="343920" y="1344205"/>
              <a:ext cx="51689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运动特征命令</a:t>
              </a:r>
              <a:r>
                <a:rPr lang="en-US" altLang="zh-CN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TA</a:t>
              </a:r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TS</a:t>
              </a:r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等都有对应的坐标系</a:t>
              </a:r>
              <a:r>
                <a:rPr lang="en-US" altLang="zh-CN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变量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FD50D57-9E80-48C9-ABE1-40F5C45470FF}"/>
                </a:ext>
              </a:extLst>
            </p:cNvPr>
            <p:cNvCxnSpPr/>
            <p:nvPr/>
          </p:nvCxnSpPr>
          <p:spPr>
            <a:xfrm>
              <a:off x="411261" y="1837592"/>
              <a:ext cx="584699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82B7FE99-7EDB-467F-845B-25D3530EEEEA}"/>
              </a:ext>
            </a:extLst>
          </p:cNvPr>
          <p:cNvSpPr/>
          <p:nvPr/>
        </p:nvSpPr>
        <p:spPr>
          <a:xfrm>
            <a:off x="451983" y="4650555"/>
            <a:ext cx="55563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Isx86 坐标系 x 替换进给率，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Isx86=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Isx90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坐标系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进给率时间单位，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Isx90=1000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Isx92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坐标系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运动混合无效，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Isx92=0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则混合有效</a:t>
            </a:r>
          </a:p>
        </p:txBody>
      </p:sp>
    </p:spTree>
    <p:extLst>
      <p:ext uri="{BB962C8B-B14F-4D97-AF65-F5344CB8AC3E}">
        <p14:creationId xmlns:p14="http://schemas.microsoft.com/office/powerpoint/2010/main" val="3625168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ED7ACFB-249F-4B30-8D42-7979800C24EF}"/>
              </a:ext>
            </a:extLst>
          </p:cNvPr>
          <p:cNvGrpSpPr/>
          <p:nvPr/>
        </p:nvGrpSpPr>
        <p:grpSpPr>
          <a:xfrm>
            <a:off x="444788" y="1389595"/>
            <a:ext cx="6752899" cy="1717857"/>
            <a:chOff x="340258" y="1284256"/>
            <a:chExt cx="4079631" cy="1015857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6A63E8-E1E3-49EB-970F-76E5145606CC}"/>
                </a:ext>
              </a:extLst>
            </p:cNvPr>
            <p:cNvSpPr txBox="1"/>
            <p:nvPr/>
          </p:nvSpPr>
          <p:spPr>
            <a:xfrm>
              <a:off x="340258" y="1716939"/>
              <a:ext cx="4079631" cy="58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速度的单位是进给轴的用户长度（或角度）单位除以坐标系统变量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Isx90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以毫秒定义的时间单位。如果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Isx90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是在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的默认值时，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的单位是每秒的长度单位；如果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Isx90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60,000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单位是每分钟的长度单位。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5AFCF40-45E4-4009-9184-76F8EF519A0C}"/>
                </a:ext>
              </a:extLst>
            </p:cNvPr>
            <p:cNvCxnSpPr/>
            <p:nvPr/>
          </p:nvCxnSpPr>
          <p:spPr>
            <a:xfrm>
              <a:off x="396917" y="1618522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478D4E6-A6A3-40AE-BDB1-992407FCF99B}"/>
                </a:ext>
              </a:extLst>
            </p:cNvPr>
            <p:cNvSpPr/>
            <p:nvPr/>
          </p:nvSpPr>
          <p:spPr>
            <a:xfrm>
              <a:off x="340258" y="1284256"/>
              <a:ext cx="649037" cy="2184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进给率 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BEE1F01-635A-49D8-A2EC-017A895EBF23}"/>
              </a:ext>
            </a:extLst>
          </p:cNvPr>
          <p:cNvGrpSpPr/>
          <p:nvPr/>
        </p:nvGrpSpPr>
        <p:grpSpPr>
          <a:xfrm>
            <a:off x="444788" y="2989323"/>
            <a:ext cx="7151767" cy="1067092"/>
            <a:chOff x="340258" y="1284256"/>
            <a:chExt cx="4320599" cy="63102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4F2DF66-A939-40B9-9477-F5A6349551BC}"/>
                </a:ext>
              </a:extLst>
            </p:cNvPr>
            <p:cNvSpPr txBox="1"/>
            <p:nvPr/>
          </p:nvSpPr>
          <p:spPr>
            <a:xfrm>
              <a:off x="340258" y="1624075"/>
              <a:ext cx="4320599" cy="291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TM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时间的单位是毫秒。对于一个给定的移动距离，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TM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这两个值之间是倒数的关系。</a:t>
              </a:r>
            </a:p>
            <a:p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089885F-8B97-4351-8B85-8531CA4563DA}"/>
                </a:ext>
              </a:extLst>
            </p:cNvPr>
            <p:cNvCxnSpPr/>
            <p:nvPr/>
          </p:nvCxnSpPr>
          <p:spPr>
            <a:xfrm>
              <a:off x="396917" y="1566529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966C19D-9B28-4F4A-B20A-0C601D04EBF6}"/>
                </a:ext>
              </a:extLst>
            </p:cNvPr>
            <p:cNvSpPr/>
            <p:nvPr/>
          </p:nvSpPr>
          <p:spPr>
            <a:xfrm>
              <a:off x="340258" y="1284256"/>
              <a:ext cx="941501" cy="2184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移动时间 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TM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33B619D1-AA22-4D54-AF9C-BC80C597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5" y="4097636"/>
            <a:ext cx="7344652" cy="279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1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26A63E8-E1E3-49EB-970F-76E5145606CC}"/>
              </a:ext>
            </a:extLst>
          </p:cNvPr>
          <p:cNvSpPr txBox="1"/>
          <p:nvPr/>
        </p:nvSpPr>
        <p:spPr>
          <a:xfrm>
            <a:off x="301293" y="2133112"/>
            <a:ext cx="7825133" cy="1346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100msTA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时间和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20ms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时间，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500ms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的时间外成一个运动，总的运动时间是多少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总运动时间为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100ms+500ms=700ms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如果程序表达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TS 100  TA 100  TM 100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，完成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个混合运动的总时间是多少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116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416394"/>
              </p:ext>
            </p:extLst>
          </p:nvPr>
        </p:nvGraphicFramePr>
        <p:xfrm>
          <a:off x="0" y="1085777"/>
          <a:ext cx="9143999" cy="446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854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2566666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2621428">
                  <a:extLst>
                    <a:ext uri="{9D8B030D-6E8A-4147-A177-3AD203B41FA5}">
                      <a16:colId xmlns:a16="http://schemas.microsoft.com/office/drawing/2014/main" val="1286381686"/>
                    </a:ext>
                  </a:extLst>
                </a:gridCol>
                <a:gridCol w="81705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第十六章 编写和执行运动程序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308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6758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运动程序命令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运动程序命令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1995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5579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38856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73319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59450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0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05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1849</Words>
  <Application>Microsoft Office PowerPoint</Application>
  <PresentationFormat>全屏显示(4:3)</PresentationFormat>
  <Paragraphs>231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隶书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Shaosen Wu</dc:creator>
  <cp:lastModifiedBy>Shaosen Wu</cp:lastModifiedBy>
  <cp:revision>52</cp:revision>
  <dcterms:created xsi:type="dcterms:W3CDTF">2019-07-19T08:34:33Z</dcterms:created>
  <dcterms:modified xsi:type="dcterms:W3CDTF">2019-07-22T09:14:00Z</dcterms:modified>
</cp:coreProperties>
</file>